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53B7C5-DAD8-42E5-AC9C-EA738CDDBC90}">
  <a:tblStyle styleId="{DE53B7C5-DAD8-42E5-AC9C-EA738CDDBC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40E3CA-CB64-451E-96C6-76F4AA617025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5F8FA"/>
          </a:solidFill>
        </a:fill>
      </a:tcStyle>
    </a:wholeTbl>
    <a:band1H>
      <a:tcTxStyle/>
      <a:tcStyle>
        <a:fill>
          <a:solidFill>
            <a:srgbClr val="E9F0F5"/>
          </a:solidFill>
        </a:fill>
      </a:tcStyle>
    </a:band1H>
    <a:band2H>
      <a:tcTxStyle/>
    </a:band2H>
    <a:band1V>
      <a:tcTxStyle/>
      <a:tcStyle>
        <a:fill>
          <a:solidFill>
            <a:srgbClr val="E9F0F5"/>
          </a:solidFill>
        </a:fill>
      </a:tcStyle>
    </a:band1V>
    <a:band2V>
      <a:tcTxStyle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d8cb7f5c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ed8cb7f5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Với bài toán M chúng ta sẽ có ngay pa cơ bản ban đầu - &gt; áp dụng đơn hình để giải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ed8cb7f5c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ed8cb7f5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Chọn cột quay là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biến phi cơ sở thực 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(xj, j &lt;=n)  mà  nó có phần tử  khác 0 ở dòng tương ứng với biến giả và dòng này được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chọn làm dòng quay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Calibri"/>
              <a:buNone/>
            </a:pPr>
            <a:r>
              <a:rPr b="1" i="0" lang="en-US" sz="1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Pha 2</a:t>
            </a:r>
            <a:r>
              <a:rPr b="0" i="0" lang="en-US" sz="12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Khi không có ẩn giả trong tập ẩn cơ bản ở cuối pha 1 và giá trị hàm mục tiêu của bài toán phụ là 0. 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d8cb7f5c8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ed8cb7f5c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Một nhà máy sản xuất hai loại sản phẩm A, B gồm hai phân xưởng với năng suất như sau: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Phân xưởng I :1000 sản phẩm A + 4000 sản phẩm B trong 1 năm và chi phí 16 triệu đồng.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Phân xưởng II :3000 sản phẩm A + 1000 sản phẩm B trong 1 năm và chi phí 15 triệu đồng.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Kế hoạch Nhà nước giao cho nhà máy là: 2000 sản phẩm A + 4000 sản phẩm 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Hãy lập kế hoạch sản xuất sao cho tổng chi phí thấp nhất đồng thời đảm bảo kế hoạch nhà nước giao cho nhà máy.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Với năng suất hai phân xưởng của nhà máy như bài toán trên . Nhà máy sản xuất được 2000 sản phẩm A và 4000 sản phẩm B. Hãy định giá trị cho 1 sản phẩm A và 1 sản phẩm B sao cho tổng giá trị của sản phẩm: phân xưởng I không vượt quá chi phí là 16 triệu đồng/năm và phân xưởng II  không vượt quá chi phí là 15 triệu đồng/năm, và tổng giá trị sản phẩm của nhà máy lớn nhất.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0:notes"/>
          <p:cNvSpPr/>
          <p:nvPr>
            <p:ph idx="2" type="sldImg"/>
          </p:nvPr>
        </p:nvSpPr>
        <p:spPr>
          <a:xfrm>
            <a:off x="1143000" y="5334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2:notes"/>
          <p:cNvSpPr/>
          <p:nvPr>
            <p:ph idx="2" type="sldImg"/>
          </p:nvPr>
        </p:nvSpPr>
        <p:spPr>
          <a:xfrm>
            <a:off x="1143000" y="5334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4:notes"/>
          <p:cNvSpPr/>
          <p:nvPr>
            <p:ph idx="2" type="sldImg"/>
          </p:nvPr>
        </p:nvSpPr>
        <p:spPr>
          <a:xfrm>
            <a:off x="1143000" y="5334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DAF8"/>
              </a:buClr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Times New Roman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/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pic>
        <p:nvPicPr>
          <p:cNvPr descr="Picture1.png"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46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42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M lớn</a:t>
            </a:r>
            <a:endParaRPr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hai pha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Char char="•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đối ngẫu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839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lớn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152400" y="-76200"/>
            <a:ext cx="8839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đơn hình mở rộng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57200" y="1066800"/>
            <a:ext cx="8686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Bài toán &lt;f,D&gt;: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813" y="1553475"/>
            <a:ext cx="3160800" cy="9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325" y="1371600"/>
            <a:ext cx="39927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533400" y="2844800"/>
            <a:ext cx="838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Bài toán M </a:t>
            </a:r>
            <a:r>
              <a:rPr lang="en-US" sz="2400">
                <a:solidFill>
                  <a:srgbClr val="002060"/>
                </a:solidFill>
              </a:rPr>
              <a:t>lớn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6175" y="3275800"/>
            <a:ext cx="5530800" cy="9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82100" y="4336325"/>
            <a:ext cx="6110400" cy="14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914400" y="6121400"/>
            <a:ext cx="8001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Với M là số dương lớn tùy ý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09600" y="381000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í dụ 1(1)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533400" y="1219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 &lt;f,D&gt;: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f (x) =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+2x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&lt;g, D&gt;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g(x) = -x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-2x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9275" y="1893325"/>
            <a:ext cx="3810000" cy="16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0800" y="4515700"/>
            <a:ext cx="4648200" cy="15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8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533400" y="1219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&lt;g, D&gt;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g(x) = -x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-2x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 M </a:t>
            </a: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b="1" i="0" lang="en-US" sz="2400" u="sng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-US" sz="2400" u="sng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G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(x) = -x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-2x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M(x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→ min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828800"/>
            <a:ext cx="4648200" cy="16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5325" y="4844075"/>
            <a:ext cx="5442000" cy="15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1(3)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9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19"/>
          <p:cNvGraphicFramePr/>
          <p:nvPr/>
        </p:nvGraphicFramePr>
        <p:xfrm>
          <a:off x="6096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734300"/>
                <a:gridCol w="587425"/>
                <a:gridCol w="722175"/>
                <a:gridCol w="893250"/>
                <a:gridCol w="620750"/>
                <a:gridCol w="847850"/>
                <a:gridCol w="734300"/>
                <a:gridCol w="734300"/>
                <a:gridCol w="734300"/>
                <a:gridCol w="734300"/>
                <a:gridCol w="734300"/>
              </a:tblGrid>
              <a:tr h="1219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3M+1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4M-1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1(4)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0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" name="Google Shape;145;p20"/>
          <p:cNvGraphicFramePr/>
          <p:nvPr/>
        </p:nvGraphicFramePr>
        <p:xfrm>
          <a:off x="533400" y="1523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15350"/>
                <a:gridCol w="815350"/>
                <a:gridCol w="815350"/>
                <a:gridCol w="815350"/>
                <a:gridCol w="815350"/>
                <a:gridCol w="815350"/>
                <a:gridCol w="815350"/>
                <a:gridCol w="815350"/>
                <a:gridCol w="1127750"/>
                <a:gridCol w="50292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5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5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5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9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2M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2M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+3/2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-2M +1/2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1(5)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2" name="Google Shape;152;p21"/>
          <p:cNvGraphicFramePr/>
          <p:nvPr/>
        </p:nvGraphicFramePr>
        <p:xfrm>
          <a:off x="60960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14/7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3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9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1(6)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9" name="Google Shape;159;p22"/>
          <p:cNvGraphicFramePr/>
          <p:nvPr/>
        </p:nvGraphicFramePr>
        <p:xfrm>
          <a:off x="533403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03650"/>
                <a:gridCol w="803650"/>
                <a:gridCol w="803650"/>
                <a:gridCol w="637075"/>
                <a:gridCol w="970200"/>
                <a:gridCol w="630000"/>
                <a:gridCol w="977300"/>
                <a:gridCol w="803650"/>
                <a:gridCol w="803650"/>
                <a:gridCol w="692025"/>
              </a:tblGrid>
              <a:tr h="838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9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9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-36/5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-9/10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-M+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9/10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-M</a:t>
                      </a:r>
                      <a:endParaRPr/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22"/>
          <p:cNvSpPr txBox="1"/>
          <p:nvPr/>
        </p:nvSpPr>
        <p:spPr>
          <a:xfrm>
            <a:off x="685800" y="4648200"/>
            <a:ext cx="79248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Nghiệm bài toán M là   (14/5, 12/5, 2/5, 0, 0,0,0), ẩn giả đã bị loại từ bảng thứ 3.</a:t>
            </a:r>
            <a:endParaRPr b="0" i="0" sz="2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Nghiệm bài toán &lt;g,D&gt;   là (14/5, 12/5, 2/5,0,0), với x</a:t>
            </a:r>
            <a:r>
              <a:rPr b="0" baseline="-2500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="0" baseline="-2500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là ẩn phụ.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Nghiệm bài toán &lt;f,D&gt;  là x</a:t>
            </a:r>
            <a:r>
              <a:rPr b="0" baseline="-2500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opt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 (14/5, 12/5, 2/5) và  f</a:t>
            </a:r>
            <a:r>
              <a:rPr b="0" baseline="-2500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36/5</a:t>
            </a:r>
            <a:endParaRPr b="0" i="0" sz="2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</a:t>
            </a:r>
            <a:r>
              <a:rPr b="1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endParaRPr b="1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4572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&lt;f,D&gt;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    f (x) = 4x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M:</a:t>
            </a:r>
            <a:endParaRPr b="1"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g(x)= -4x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+Mx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+Mx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min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752600"/>
            <a:ext cx="32766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3962400"/>
            <a:ext cx="33528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2(2)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4"/>
          <p:cNvGraphicFramePr/>
          <p:nvPr/>
        </p:nvGraphicFramePr>
        <p:xfrm>
          <a:off x="761999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32150"/>
                <a:gridCol w="848875"/>
                <a:gridCol w="921000"/>
                <a:gridCol w="841550"/>
                <a:gridCol w="815425"/>
                <a:gridCol w="815425"/>
                <a:gridCol w="847825"/>
                <a:gridCol w="810775"/>
                <a:gridCol w="810775"/>
              </a:tblGrid>
              <a:tr h="1092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8M+4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4M-3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2(3)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5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5" name="Google Shape;185;p25"/>
          <p:cNvGraphicFramePr/>
          <p:nvPr/>
        </p:nvGraphicFramePr>
        <p:xfrm>
          <a:off x="761999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932175"/>
                <a:gridCol w="950900"/>
                <a:gridCol w="1031700"/>
                <a:gridCol w="942700"/>
                <a:gridCol w="913425"/>
                <a:gridCol w="913425"/>
                <a:gridCol w="949725"/>
                <a:gridCol w="106215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-2M-6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-7M-5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-2M-1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5"/>
          <p:cNvSpPr txBox="1"/>
          <p:nvPr/>
        </p:nvSpPr>
        <p:spPr>
          <a:xfrm>
            <a:off x="762000" y="4876800"/>
            <a:ext cx="7772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Nghiệm bài toán M là là = (1,0,0,0,0)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Ẩn giả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còn là ẩn cơ bản nhưng nhận giá trị 0 nên nghiệm bài toán (f,D) là x = (1,0,0) và f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= 4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3(1)</a:t>
            </a:r>
            <a:endParaRPr b="1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6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4572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&lt;f,D&gt; :     f (x) = -4x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M: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g(x)= -4x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+Mx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+Mx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min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2588" y="1752600"/>
            <a:ext cx="3119437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4650" y="3962400"/>
            <a:ext cx="32131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3(2)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4" name="Google Shape;204;p27"/>
          <p:cNvGraphicFramePr/>
          <p:nvPr/>
        </p:nvGraphicFramePr>
        <p:xfrm>
          <a:off x="761999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32150"/>
                <a:gridCol w="848875"/>
                <a:gridCol w="921000"/>
                <a:gridCol w="841550"/>
                <a:gridCol w="815425"/>
                <a:gridCol w="815425"/>
                <a:gridCol w="847825"/>
                <a:gridCol w="810775"/>
                <a:gridCol w="810775"/>
              </a:tblGrid>
              <a:tr h="1092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8M+4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4M-3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3(3)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8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1" name="Google Shape;211;p28"/>
          <p:cNvGraphicFramePr/>
          <p:nvPr/>
        </p:nvGraphicFramePr>
        <p:xfrm>
          <a:off x="761999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932175"/>
                <a:gridCol w="950900"/>
                <a:gridCol w="1031700"/>
                <a:gridCol w="942700"/>
                <a:gridCol w="913425"/>
                <a:gridCol w="913425"/>
                <a:gridCol w="949725"/>
                <a:gridCol w="106215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-2M-6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-7M-5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-2M-1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8"/>
          <p:cNvSpPr txBox="1"/>
          <p:nvPr/>
        </p:nvSpPr>
        <p:spPr>
          <a:xfrm>
            <a:off x="762000" y="4876800"/>
            <a:ext cx="7772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Nghiệm bài toán M là là = (1,0,0,0,1)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Ẩn giả 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còn là ẩn cơ bản nhận giá trị 1 nên nghiệm bài toán (f,D) vô nghiệm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457200" y="2839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 hình hai pha 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/>
        </p:nvSpPr>
        <p:spPr>
          <a:xfrm>
            <a:off x="152400" y="-76200"/>
            <a:ext cx="8839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đơn hình mở rộng</a:t>
            </a:r>
            <a:endParaRPr/>
          </a:p>
        </p:txBody>
      </p:sp>
      <p:sp>
        <p:nvSpPr>
          <p:cNvPr id="224" name="Google Shape;224;p30"/>
          <p:cNvSpPr txBox="1"/>
          <p:nvPr/>
        </p:nvSpPr>
        <p:spPr>
          <a:xfrm>
            <a:off x="457200" y="1066800"/>
            <a:ext cx="868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Bài toán &lt;f,D&gt;: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288" y="1657625"/>
            <a:ext cx="3160800" cy="9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/>
          <p:nvPr/>
        </p:nvSpPr>
        <p:spPr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875" y="1528500"/>
            <a:ext cx="39927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 txBox="1"/>
          <p:nvPr/>
        </p:nvSpPr>
        <p:spPr>
          <a:xfrm>
            <a:off x="457200" y="3124200"/>
            <a:ext cx="838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Bài toán &lt;g, D*&gt;:</a:t>
            </a:r>
            <a:endParaRPr b="0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6963" y="3621000"/>
            <a:ext cx="3255900" cy="9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6988" y="4648200"/>
            <a:ext cx="57072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/>
        </p:nvSpPr>
        <p:spPr>
          <a:xfrm>
            <a:off x="503475" y="381000"/>
            <a:ext cx="6278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&lt;g,D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ó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án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 bản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(x,t) = (0,…,0, b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,…, b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g(t) ≥ 0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thì có phương án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tối ưu (x*,t*)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00050" lvl="0" marL="3429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g(t*) &gt; 0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thì  (f,D) vô nghiệm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g(t*) = 0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tức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t* = </a:t>
            </a: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1"/>
          </a:p>
          <a:p>
            <a:pPr indent="-3810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➔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(x*,t*)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 tối ưu &lt;g, D*&gt; 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➔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t* không phải là ẩn cơ sở,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 x* là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 cơ bản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(f, D)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Char char="➔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t* là ẩn cơ sở 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tiến hành một vài phép đơn hình nữa để loại khỏi cơ sở.</a:t>
            </a:r>
            <a:endParaRPr/>
          </a:p>
          <a:p>
            <a:pPr indent="-101600" lvl="2" marL="1143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2" marL="1143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457200" y="11430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Dùng phương pháp đơn hình để giải bài toán &lt;g,D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Bảng đơn hình ban đầu của pha 2 là bảng đơn hình cuối cùng của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với sửa đổi sau: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  tất cả các cột tương ứng với ẩn giả (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○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Thay Cột 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HScB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bởi  hệ số hàm mục tiêu bài toán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&lt;f,D&gt;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○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Tính lại giá trị hàm mục tiêu và Delta(dòng cuối bảng):</a:t>
            </a:r>
            <a:endParaRPr/>
          </a:p>
          <a:p>
            <a:pPr indent="-158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00050" lvl="0" marL="3429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○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Bảng thu được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tục giải bằng phương pháp đơn hình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6" name="Google Shape;246;p32"/>
          <p:cNvGraphicFramePr/>
          <p:nvPr/>
        </p:nvGraphicFramePr>
        <p:xfrm>
          <a:off x="2667000" y="40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736100"/>
                <a:gridCol w="651700"/>
                <a:gridCol w="651700"/>
                <a:gridCol w="651700"/>
                <a:gridCol w="677600"/>
              </a:tblGrid>
              <a:tr h="56727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f(x0)</a:t>
                      </a:r>
                      <a:endParaRPr sz="22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2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∆</a:t>
                      </a:r>
                      <a:r>
                        <a:rPr baseline="-25000" lang="en-US" sz="2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dụ 1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3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&lt;f,D&gt;: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f (x) = -4x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+3x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min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&lt;g,D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: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(t) = t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+t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min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057400"/>
            <a:ext cx="3429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6538" y="4419600"/>
            <a:ext cx="328295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3" name="Google Shape;263;p34"/>
          <p:cNvGraphicFramePr/>
          <p:nvPr/>
        </p:nvGraphicFramePr>
        <p:xfrm>
          <a:off x="762000" y="196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19125"/>
                <a:gridCol w="835575"/>
                <a:gridCol w="906575"/>
                <a:gridCol w="828375"/>
                <a:gridCol w="802650"/>
                <a:gridCol w="802650"/>
                <a:gridCol w="834550"/>
                <a:gridCol w="933350"/>
                <a:gridCol w="933350"/>
              </a:tblGrid>
              <a:tr h="7748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5/6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34"/>
          <p:cNvSpPr txBox="1"/>
          <p:nvPr/>
        </p:nvSpPr>
        <p:spPr>
          <a:xfrm>
            <a:off x="534750" y="262700"/>
            <a:ext cx="65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1(2)</a:t>
            </a:r>
            <a:endParaRPr/>
          </a:p>
        </p:txBody>
      </p:sp>
      <p:sp>
        <p:nvSpPr>
          <p:cNvPr id="265" name="Google Shape;265;p34"/>
          <p:cNvSpPr txBox="1"/>
          <p:nvPr/>
        </p:nvSpPr>
        <p:spPr>
          <a:xfrm>
            <a:off x="509550" y="1110175"/>
            <a:ext cx="769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1 giải bài toán &lt;g, D*&gt;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1" name="Google Shape;271;p35"/>
          <p:cNvGraphicFramePr/>
          <p:nvPr/>
        </p:nvGraphicFramePr>
        <p:xfrm>
          <a:off x="7620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19125"/>
                <a:gridCol w="835575"/>
                <a:gridCol w="906575"/>
                <a:gridCol w="828375"/>
                <a:gridCol w="802650"/>
                <a:gridCol w="802650"/>
                <a:gridCol w="834550"/>
                <a:gridCol w="933350"/>
                <a:gridCol w="93335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sng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2/7</a:t>
                      </a:r>
                      <a:endParaRPr sz="2400" u="sng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5/6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1/6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-5/3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35"/>
          <p:cNvSpPr txBox="1"/>
          <p:nvPr/>
        </p:nvSpPr>
        <p:spPr>
          <a:xfrm>
            <a:off x="534750" y="262700"/>
            <a:ext cx="65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1(3)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509550" y="1110175"/>
            <a:ext cx="769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1 giải bài toán &lt;g, D*&gt;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9" name="Google Shape;279;p36"/>
          <p:cNvGraphicFramePr/>
          <p:nvPr/>
        </p:nvGraphicFramePr>
        <p:xfrm>
          <a:off x="7620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19125"/>
                <a:gridCol w="835575"/>
                <a:gridCol w="906575"/>
                <a:gridCol w="828375"/>
                <a:gridCol w="802650"/>
                <a:gridCol w="802650"/>
                <a:gridCol w="834550"/>
                <a:gridCol w="93335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11/14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-2/14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3/14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0" name="Google Shape;280;p36"/>
          <p:cNvSpPr txBox="1"/>
          <p:nvPr/>
        </p:nvSpPr>
        <p:spPr>
          <a:xfrm>
            <a:off x="534750" y="262700"/>
            <a:ext cx="65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1(4)</a:t>
            </a:r>
            <a:endParaRPr/>
          </a:p>
        </p:txBody>
      </p:sp>
      <p:sp>
        <p:nvSpPr>
          <p:cNvPr id="281" name="Google Shape;281;p36"/>
          <p:cNvSpPr txBox="1"/>
          <p:nvPr/>
        </p:nvSpPr>
        <p:spPr>
          <a:xfrm>
            <a:off x="509550" y="1110175"/>
            <a:ext cx="769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1 giải bài toán &lt;g, D*&gt;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7" name="Google Shape;287;p37"/>
          <p:cNvGraphicFramePr/>
          <p:nvPr/>
        </p:nvGraphicFramePr>
        <p:xfrm>
          <a:off x="11430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19125"/>
                <a:gridCol w="835575"/>
                <a:gridCol w="906575"/>
                <a:gridCol w="828375"/>
                <a:gridCol w="802650"/>
                <a:gridCol w="802650"/>
                <a:gridCol w="834550"/>
                <a:gridCol w="93335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11/14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23/14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44/7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37"/>
          <p:cNvSpPr txBox="1"/>
          <p:nvPr/>
        </p:nvSpPr>
        <p:spPr>
          <a:xfrm>
            <a:off x="534750" y="262700"/>
            <a:ext cx="65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1(5)</a:t>
            </a:r>
            <a:endParaRPr/>
          </a:p>
        </p:txBody>
      </p:sp>
      <p:sp>
        <p:nvSpPr>
          <p:cNvPr id="289" name="Google Shape;289;p37"/>
          <p:cNvSpPr txBox="1"/>
          <p:nvPr/>
        </p:nvSpPr>
        <p:spPr>
          <a:xfrm>
            <a:off x="509550" y="1110175"/>
            <a:ext cx="769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2 giải bài toán &lt;f, D&gt;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5" name="Google Shape;295;p38"/>
          <p:cNvGraphicFramePr/>
          <p:nvPr/>
        </p:nvGraphicFramePr>
        <p:xfrm>
          <a:off x="7620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{DE53B7C5-DAD8-42E5-AC9C-EA738CDDBC90}</a:tableStyleId>
              </a:tblPr>
              <a:tblGrid>
                <a:gridCol w="819125"/>
                <a:gridCol w="835575"/>
                <a:gridCol w="906575"/>
                <a:gridCol w="828375"/>
                <a:gridCol w="802650"/>
                <a:gridCol w="802650"/>
                <a:gridCol w="834550"/>
                <a:gridCol w="933350"/>
              </a:tblGrid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Hệ số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Ẩn CB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P/Án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7/4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baseline="-25000"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-3/2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38"/>
          <p:cNvSpPr txBox="1"/>
          <p:nvPr/>
        </p:nvSpPr>
        <p:spPr>
          <a:xfrm>
            <a:off x="534750" y="262700"/>
            <a:ext cx="654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1(6)</a:t>
            </a:r>
            <a:endParaRPr/>
          </a:p>
        </p:txBody>
      </p:sp>
      <p:sp>
        <p:nvSpPr>
          <p:cNvPr id="297" name="Google Shape;297;p38"/>
          <p:cNvSpPr txBox="1"/>
          <p:nvPr/>
        </p:nvSpPr>
        <p:spPr>
          <a:xfrm>
            <a:off x="509550" y="1110175"/>
            <a:ext cx="769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 2 giải bài toán &lt;f, D&gt;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/>
          <p:nvPr>
            <p:ph type="title"/>
          </p:nvPr>
        </p:nvSpPr>
        <p:spPr>
          <a:xfrm>
            <a:off x="457200" y="2839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đối ngẫu 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lập kế hoạch sản xuất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40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533400" y="9906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lập kế hoạch sản xuất sao cho tổng chi phí thấp nhất đồng thời đảm bảo chỉ tiêu cho nhà máy.</a:t>
            </a:r>
            <a:endParaRPr sz="1300"/>
          </a:p>
          <a:p>
            <a:pPr indent="-33655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-2500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0" baseline="-2500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số năm cho xưởng 1 và 2  hoạt động tương ứng.</a:t>
            </a:r>
            <a:endParaRPr b="0" i="0" sz="23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0" name="Google Shape;310;p40"/>
          <p:cNvGraphicFramePr/>
          <p:nvPr/>
        </p:nvGraphicFramePr>
        <p:xfrm>
          <a:off x="876300" y="1294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{A140E3CA-CB64-451E-96C6-76F4AA617025}</a:tableStyleId>
              </a:tblPr>
              <a:tblGrid>
                <a:gridCol w="1348150"/>
                <a:gridCol w="2017850"/>
                <a:gridCol w="2067525"/>
                <a:gridCol w="2110275"/>
              </a:tblGrid>
              <a:tr h="467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x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Nhà máy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Chỉ tiêu Nhà nước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Phân </a:t>
                      </a:r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xưởng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 1 / năm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Phân xưởng 2/năm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Sản phẩm A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Sản phẩm B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Chi phí/năm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16 triệu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15 triệu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lập kế hoạch sản xuất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4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1"/>
          <p:cNvSpPr txBox="1"/>
          <p:nvPr>
            <p:ph idx="1" type="body"/>
          </p:nvPr>
        </p:nvSpPr>
        <p:spPr>
          <a:xfrm>
            <a:off x="5334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hình toán &lt;f,D&gt;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 = 16x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+ 15x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 (triệu)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1075" y="2583325"/>
            <a:ext cx="33528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định giá sản phẩm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533400" y="10668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định giá trị cho 1 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sản phẩm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và 1 s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 phẩm 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sao cho tổng giá trị của sản phẩm của nhà máy lớn nhất và thỏa 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mãn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định mức chi phí đối với 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xưởng 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và 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xưởng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</a:t>
            </a:r>
            <a:endParaRPr b="0" i="0" sz="23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0" baseline="-2500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là giá (đv nghìn) 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sản phẩm 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và </a:t>
            </a:r>
            <a:r>
              <a:rPr lang="en-US" sz="23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sản phẩm</a:t>
            </a:r>
            <a:r>
              <a:rPr b="0" i="0" lang="en-US" sz="23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B.</a:t>
            </a:r>
            <a:endParaRPr b="0" i="0" sz="23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7" name="Google Shape;327;p42"/>
          <p:cNvGraphicFramePr/>
          <p:nvPr/>
        </p:nvGraphicFramePr>
        <p:xfrm>
          <a:off x="876300" y="125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{A140E3CA-CB64-451E-96C6-76F4AA617025}</a:tableStyleId>
              </a:tblPr>
              <a:tblGrid>
                <a:gridCol w="714675"/>
                <a:gridCol w="1535125"/>
                <a:gridCol w="1125650"/>
                <a:gridCol w="2158925"/>
                <a:gridCol w="2009425"/>
              </a:tblGrid>
              <a:tr h="8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Nhà máy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SX được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Phân </a:t>
                      </a:r>
                      <a:r>
                        <a:rPr lang="en-US" sz="1800">
                          <a:solidFill>
                            <a:srgbClr val="002060"/>
                          </a:solidFill>
                        </a:rPr>
                        <a:t>xưởng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 1 / năm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Phân xưởng 2/năm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y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 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Sản phẩm A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2000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3000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y</a:t>
                      </a:r>
                      <a:r>
                        <a:rPr baseline="-25000" lang="en-US" sz="1800" u="none" cap="none" strike="noStrike">
                          <a:solidFill>
                            <a:srgbClr val="00206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Sản phẩm B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4000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1000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Định mức chi phí/năm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16 triệu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</a:rPr>
                        <a:t>15 triệu</a:t>
                      </a:r>
                      <a:endParaRPr sz="1800" u="none" cap="none" strike="noStrike">
                        <a:solidFill>
                          <a:srgbClr val="00206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đánh giá sản phẩm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hình toán &lt;g,D*&gt;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g(y) = 2y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+4y</a:t>
            </a:r>
            <a:r>
              <a:rPr b="0" baseline="-2500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 (nghìn)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4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3200400"/>
            <a:ext cx="32004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định giá sản phẩm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4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4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44"/>
          <p:cNvGrpSpPr/>
          <p:nvPr/>
        </p:nvGrpSpPr>
        <p:grpSpPr>
          <a:xfrm>
            <a:off x="533161" y="2819400"/>
            <a:ext cx="3962639" cy="2895600"/>
            <a:chOff x="1522" y="3059"/>
            <a:chExt cx="3698" cy="3061"/>
          </a:xfrm>
        </p:grpSpPr>
        <p:cxnSp>
          <p:nvCxnSpPr>
            <p:cNvPr id="345" name="Google Shape;345;p44"/>
            <p:cNvCxnSpPr/>
            <p:nvPr/>
          </p:nvCxnSpPr>
          <p:spPr>
            <a:xfrm>
              <a:off x="2483" y="3059"/>
              <a:ext cx="1" cy="2881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stealth"/>
              <a:tailEnd len="sm" w="sm" type="none"/>
            </a:ln>
          </p:spPr>
        </p:cxnSp>
        <p:cxnSp>
          <p:nvCxnSpPr>
            <p:cNvPr id="346" name="Google Shape;346;p44"/>
            <p:cNvCxnSpPr/>
            <p:nvPr/>
          </p:nvCxnSpPr>
          <p:spPr>
            <a:xfrm flipH="1">
              <a:off x="2051" y="5823"/>
              <a:ext cx="3169" cy="1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stealth"/>
              <a:tailEnd len="sm" w="sm" type="none"/>
            </a:ln>
          </p:spPr>
        </p:cxnSp>
        <p:cxnSp>
          <p:nvCxnSpPr>
            <p:cNvPr id="347" name="Google Shape;347;p44"/>
            <p:cNvCxnSpPr/>
            <p:nvPr/>
          </p:nvCxnSpPr>
          <p:spPr>
            <a:xfrm>
              <a:off x="2880" y="3600"/>
              <a:ext cx="900" cy="108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8" name="Google Shape;348;p44"/>
            <p:cNvCxnSpPr/>
            <p:nvPr/>
          </p:nvCxnSpPr>
          <p:spPr>
            <a:xfrm>
              <a:off x="1522" y="3865"/>
              <a:ext cx="1328" cy="1025"/>
            </a:xfrm>
            <a:prstGeom prst="straightConnector1">
              <a:avLst/>
            </a:prstGeom>
            <a:noFill/>
            <a:ln cap="rnd" cmpd="sng" w="381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44"/>
            <p:cNvCxnSpPr/>
            <p:nvPr/>
          </p:nvCxnSpPr>
          <p:spPr>
            <a:xfrm>
              <a:off x="2475" y="3600"/>
              <a:ext cx="360" cy="1260"/>
            </a:xfrm>
            <a:prstGeom prst="straightConnector1">
              <a:avLst/>
            </a:prstGeom>
            <a:noFill/>
            <a:ln cap="flat" cmpd="sng" w="381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44"/>
            <p:cNvCxnSpPr/>
            <p:nvPr/>
          </p:nvCxnSpPr>
          <p:spPr>
            <a:xfrm flipH="1">
              <a:off x="2944" y="4106"/>
              <a:ext cx="360" cy="36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triangle"/>
            </a:ln>
          </p:spPr>
        </p:cxnSp>
        <p:cxnSp>
          <p:nvCxnSpPr>
            <p:cNvPr id="351" name="Google Shape;351;p44"/>
            <p:cNvCxnSpPr/>
            <p:nvPr/>
          </p:nvCxnSpPr>
          <p:spPr>
            <a:xfrm>
              <a:off x="2850" y="4860"/>
              <a:ext cx="390" cy="1260"/>
            </a:xfrm>
            <a:prstGeom prst="straightConnector1">
              <a:avLst/>
            </a:prstGeom>
            <a:noFill/>
            <a:ln cap="rnd" cmpd="sng" w="381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44"/>
            <p:cNvCxnSpPr/>
            <p:nvPr/>
          </p:nvCxnSpPr>
          <p:spPr>
            <a:xfrm>
              <a:off x="2873" y="4912"/>
              <a:ext cx="922" cy="878"/>
            </a:xfrm>
            <a:prstGeom prst="straightConnector1">
              <a:avLst/>
            </a:prstGeom>
            <a:noFill/>
            <a:ln cap="flat" cmpd="sng" w="381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53" name="Google Shape;353;p44"/>
          <p:cNvCxnSpPr/>
          <p:nvPr/>
        </p:nvCxnSpPr>
        <p:spPr>
          <a:xfrm>
            <a:off x="6324600" y="2743200"/>
            <a:ext cx="52388" cy="27432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354" name="Google Shape;354;p44"/>
          <p:cNvCxnSpPr/>
          <p:nvPr/>
        </p:nvCxnSpPr>
        <p:spPr>
          <a:xfrm flipH="1">
            <a:off x="6102350" y="5181600"/>
            <a:ext cx="2736850" cy="33338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stealth"/>
            <a:tailEnd len="sm" w="sm" type="none"/>
          </a:ln>
        </p:spPr>
      </p:cxnSp>
      <p:cxnSp>
        <p:nvCxnSpPr>
          <p:cNvPr id="355" name="Google Shape;355;p44"/>
          <p:cNvCxnSpPr/>
          <p:nvPr/>
        </p:nvCxnSpPr>
        <p:spPr>
          <a:xfrm>
            <a:off x="6286500" y="4914900"/>
            <a:ext cx="1028700" cy="457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44"/>
          <p:cNvCxnSpPr/>
          <p:nvPr/>
        </p:nvCxnSpPr>
        <p:spPr>
          <a:xfrm rot="10800000">
            <a:off x="6324600" y="3810000"/>
            <a:ext cx="1263650" cy="419100"/>
          </a:xfrm>
          <a:prstGeom prst="straightConnector1">
            <a:avLst/>
          </a:prstGeom>
          <a:noFill/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44"/>
          <p:cNvCxnSpPr/>
          <p:nvPr/>
        </p:nvCxnSpPr>
        <p:spPr>
          <a:xfrm flipH="1" rot="10800000">
            <a:off x="6743700" y="4724400"/>
            <a:ext cx="114300" cy="37465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8" name="Google Shape;358;p44"/>
          <p:cNvCxnSpPr/>
          <p:nvPr/>
        </p:nvCxnSpPr>
        <p:spPr>
          <a:xfrm>
            <a:off x="7086600" y="2971800"/>
            <a:ext cx="504825" cy="1238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44"/>
          <p:cNvCxnSpPr/>
          <p:nvPr/>
        </p:nvCxnSpPr>
        <p:spPr>
          <a:xfrm rot="10800000">
            <a:off x="7588250" y="4229100"/>
            <a:ext cx="457200" cy="114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44"/>
          <p:cNvCxnSpPr/>
          <p:nvPr>
            <p:ph idx="1" type="body"/>
          </p:nvPr>
        </p:nvCxnSpPr>
        <p:spPr>
          <a:xfrm>
            <a:off x="7620000" y="4267200"/>
            <a:ext cx="457200" cy="1066800"/>
          </a:xfrm>
          <a:prstGeom prst="straightConnector1">
            <a:avLst/>
          </a:prstGeom>
          <a:noFill/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44"/>
          <p:cNvSpPr txBox="1"/>
          <p:nvPr/>
        </p:nvSpPr>
        <p:spPr>
          <a:xfrm>
            <a:off x="3048000" y="3657600"/>
            <a:ext cx="91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24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 txBox="1"/>
          <p:nvPr/>
        </p:nvSpPr>
        <p:spPr>
          <a:xfrm>
            <a:off x="6705600" y="4191000"/>
            <a:ext cx="609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D*</a:t>
            </a:r>
            <a:endParaRPr b="1" i="0" sz="24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7772400" y="38100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(4,3)</a:t>
            </a:r>
            <a:endParaRPr b="0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2057400" y="4267200"/>
            <a:ext cx="1447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(10/11,4/11)</a:t>
            </a:r>
            <a:endParaRPr b="0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4"/>
          <p:cNvSpPr txBox="1"/>
          <p:nvPr/>
        </p:nvSpPr>
        <p:spPr>
          <a:xfrm>
            <a:off x="609600" y="1676400"/>
            <a:ext cx="41148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=f(10/11, 4/11)= 20 (</a:t>
            </a:r>
            <a:r>
              <a:rPr b="0" i="1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triệu đồng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4"/>
          <p:cNvSpPr/>
          <p:nvPr/>
        </p:nvSpPr>
        <p:spPr>
          <a:xfrm>
            <a:off x="5410200" y="1752600"/>
            <a:ext cx="34868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-2500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=g(4, 3)= 20 (</a:t>
            </a:r>
            <a:r>
              <a:rPr b="0" i="1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triệu đồng</a:t>
            </a:r>
            <a:r>
              <a:rPr b="0" i="0" lang="en-US" sz="2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4"/>
          <p:cNvSpPr txBox="1"/>
          <p:nvPr/>
        </p:nvSpPr>
        <p:spPr>
          <a:xfrm>
            <a:off x="3352800" y="5791200"/>
            <a:ext cx="3733800" cy="646331"/>
          </a:xfrm>
          <a:prstGeom prst="rect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sng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Nhận xét</a:t>
            </a:r>
            <a:r>
              <a:rPr b="1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	f</a:t>
            </a:r>
            <a:r>
              <a:rPr b="1" baseline="-25000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1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= g</a:t>
            </a:r>
            <a:r>
              <a:rPr b="1" baseline="-25000" i="0" lang="en-US" sz="18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1" i="0" sz="18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 ngẫu không đối xứng(1)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45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457200" y="11430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ài toán (D,f) dạng chính tắc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ài toán (D* , g):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(1*) 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362200"/>
            <a:ext cx="41910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5105400"/>
            <a:ext cx="3630613" cy="1246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1524000"/>
            <a:ext cx="3679825" cy="91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7488" y="4203700"/>
            <a:ext cx="3649662" cy="8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>
            <p:ph type="title"/>
          </p:nvPr>
        </p:nvSpPr>
        <p:spPr>
          <a:xfrm>
            <a:off x="5334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 ngẫu không đối xứng (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46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46"/>
          <p:cNvSpPr txBox="1"/>
          <p:nvPr>
            <p:ph idx="1" type="body"/>
          </p:nvPr>
        </p:nvSpPr>
        <p:spPr>
          <a:xfrm>
            <a:off x="457200" y="1376588"/>
            <a:ext cx="8229600" cy="49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( 1*)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bài toán đối ngẫu của bài toán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(1).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(1*)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bài toán gốc,  thì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( 1 )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bài toán đối ngẫu.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ặp ( 1, 1*)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cặp bài toán đối ngẫu không đối xứng.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1" i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 thành lập </a:t>
            </a:r>
            <a:endParaRPr/>
          </a:p>
          <a:p>
            <a:pPr indent="-2603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gốc ở dạng chính tắc.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số hàm mục tiêu của bài toán này là hệ số tự do trong hệ ràng buộc của bài toán kia.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trận số liệu chuyển vị cho nhau.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74295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đối ngẫu là bài toán </a:t>
            </a:r>
            <a:r>
              <a:rPr i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ràng buộc là ≤.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4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1(1)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47"/>
          <p:cNvSpPr txBox="1"/>
          <p:nvPr>
            <p:ph idx="1" type="body"/>
          </p:nvPr>
        </p:nvSpPr>
        <p:spPr>
          <a:xfrm>
            <a:off x="457200" y="11430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gốc</a:t>
            </a:r>
            <a:endParaRPr b="0" i="0" sz="28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 = x</a:t>
            </a:r>
            <a:r>
              <a:rPr b="1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+ 2x</a:t>
            </a:r>
            <a:r>
              <a:rPr b="1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+3x</a:t>
            </a:r>
            <a:r>
              <a:rPr b="1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667000"/>
            <a:ext cx="3886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dụ ví dụ 1(2)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48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48"/>
          <p:cNvSpPr txBox="1"/>
          <p:nvPr>
            <p:ph idx="1" type="body"/>
          </p:nvPr>
        </p:nvSpPr>
        <p:spPr>
          <a:xfrm>
            <a:off x="457200" y="11430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đối ngẫu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g(y) = y</a:t>
            </a:r>
            <a:r>
              <a:rPr b="1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-5y</a:t>
            </a:r>
            <a:r>
              <a:rPr b="1" baseline="-2500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2971800"/>
            <a:ext cx="28956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 ngẫu đối xứng(1)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9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457200" y="11430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ài toán (D,f) dạng chính tắc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(2),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tương đương bài toán như sau: 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438400"/>
            <a:ext cx="3979863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1447800"/>
            <a:ext cx="3679825" cy="91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4267200"/>
            <a:ext cx="3679825" cy="91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0" y="5181600"/>
            <a:ext cx="4703763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 ngẫu đối xứng(2)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50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50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đối ngẫu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(2*)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(2*)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688" y="1536701"/>
            <a:ext cx="3649662" cy="8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3962400"/>
            <a:ext cx="3649662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8888" y="2389188"/>
            <a:ext cx="3602037" cy="14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0" y="4827588"/>
            <a:ext cx="3417888" cy="14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 ngẫu đối xứng(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5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51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b="1"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( 2*) là bài toán gốc, thì ( 2 ) là bài toán đối ngẫu của nó.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ặp ( 2, 2*)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cặp bài toán đối ngẫu đối xứng.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 thành lập</a:t>
            </a:r>
            <a:endParaRPr b="1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 số hàm mục tiêu của bài toán này là hệ số tự do trong hệ ràng buộc của bài toán kia.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trận số liệu chuyển vị cho nhau.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ràng buộc ≥ và bài toán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ràng buộc ≤.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 hai bài toán đều có 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ràng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buộc các ẩn không âm.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5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5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52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(2)	f(x) = 3x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5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514600"/>
            <a:ext cx="44958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2(2)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5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53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(2*)	g(y) = 4y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6y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5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4" name="Google Shape;46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209800"/>
            <a:ext cx="50292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Sơ đồ Tucker(1)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5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54"/>
          <p:cNvSpPr txBox="1"/>
          <p:nvPr>
            <p:ph idx="1" type="body"/>
          </p:nvPr>
        </p:nvSpPr>
        <p:spPr>
          <a:xfrm>
            <a:off x="533400" y="10668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Cặp bài toán ( 1,1* ) và ( 2,2* ) có sơ đồ </a:t>
            </a: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Tucker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2" name="Google Shape;472;p54"/>
          <p:cNvGraphicFramePr/>
          <p:nvPr/>
        </p:nvGraphicFramePr>
        <p:xfrm>
          <a:off x="6858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{A140E3CA-CB64-451E-96C6-76F4AA617025}</a:tableStyleId>
              </a:tblPr>
              <a:tblGrid>
                <a:gridCol w="3886200"/>
                <a:gridCol w="3886200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473" name="Google Shape;47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00200"/>
            <a:ext cx="2819400" cy="88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1600200"/>
            <a:ext cx="2895600" cy="86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800" y="2590800"/>
            <a:ext cx="2514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0" y="2819400"/>
            <a:ext cx="173037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7800" y="3581400"/>
            <a:ext cx="29718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6400" y="3657600"/>
            <a:ext cx="169227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86400" y="4419600"/>
            <a:ext cx="2560638" cy="71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86400" y="5257800"/>
            <a:ext cx="2982912" cy="86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24000" y="4648200"/>
            <a:ext cx="22098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24000" y="5486400"/>
            <a:ext cx="266700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Sơ đồ Tucker(</a:t>
            </a: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55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55"/>
          <p:cNvSpPr txBox="1"/>
          <p:nvPr>
            <p:ph idx="1" type="body"/>
          </p:nvPr>
        </p:nvSpPr>
        <p:spPr>
          <a:xfrm>
            <a:off x="533400" y="10668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Lưu ý:</a:t>
            </a:r>
            <a:endParaRPr b="1"/>
          </a:p>
          <a:p>
            <a:pPr indent="-342900" lvl="0" marL="8001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không có ràng buộc cưỡng bức   ≤ </a:t>
            </a:r>
            <a:endParaRPr/>
          </a:p>
          <a:p>
            <a:pPr indent="-342900" lvl="0" marL="8001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</a:t>
            </a:r>
            <a:r>
              <a:rPr b="0" i="1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không có ràng buộc cưỡng bức  ≥.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marR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có: thì nhân hai vế cho -1.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8001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3(1)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56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56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(3)	 f(x) = 2x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5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133600"/>
            <a:ext cx="39624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3(2)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57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57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(3*)	 g(y) = 4y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-5y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5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2286000"/>
            <a:ext cx="48006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4(1)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58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58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(4)	 f(x) = 3x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min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5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2209800"/>
            <a:ext cx="37338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 họa ví dụ 4(2)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59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59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(4*)	 g(y) = -3y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-2y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max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5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19200"/>
            <a:ext cx="3733800" cy="160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59"/>
          <p:cNvCxnSpPr/>
          <p:nvPr/>
        </p:nvCxnSpPr>
        <p:spPr>
          <a:xfrm>
            <a:off x="4572000" y="1981200"/>
            <a:ext cx="533400" cy="158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pic>
        <p:nvPicPr>
          <p:cNvPr id="534" name="Google Shape;53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600" y="1143000"/>
            <a:ext cx="3408363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1400" y="3733800"/>
            <a:ext cx="2522537" cy="221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60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60"/>
          <p:cNvSpPr txBox="1"/>
          <p:nvPr>
            <p:ph idx="1" type="body"/>
          </p:nvPr>
        </p:nvSpPr>
        <p:spPr>
          <a:xfrm>
            <a:off x="702875" y="1724825"/>
            <a:ext cx="726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 các bài toán sau bằng phương pháp đơn hình. </a:t>
            </a:r>
            <a:endParaRPr/>
          </a:p>
          <a:p>
            <a:pPr indent="-342900" lvl="0" marL="342900" marR="0" rtl="0" algn="just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bài toán đối ngẫu của chúng. </a:t>
            </a:r>
            <a:endParaRPr/>
          </a:p>
          <a:p>
            <a:pPr indent="-342900" lvl="0" marL="342900" marR="0" rtl="0" algn="just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Dựa vào nguyên lý độ lệch bù để tìm nghiệm bài toán đối ngẫu.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1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61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61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f(x) = -5x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- 4x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- 3x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max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0" name="Google Shape;55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286000"/>
            <a:ext cx="457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2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62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62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f(x) = 2x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+17x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+18x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max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8" name="Google Shape;55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057400"/>
            <a:ext cx="40386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3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63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63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f(x) = 8x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+ 9x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----&gt; min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6" name="Google Shape;56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209800"/>
            <a:ext cx="34290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4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 4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2" name="Google Shape;572;p64"/>
          <p:cNvSpPr txBox="1"/>
          <p:nvPr>
            <p:ph idx="11" type="ftr"/>
          </p:nvPr>
        </p:nvSpPr>
        <p:spPr>
          <a:xfrm>
            <a:off x="2667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Văn Hiệu, 2012, </a:t>
            </a: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Tối ưu tuyến tính</a:t>
            </a:r>
            <a:endParaRPr b="1" i="0" sz="12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64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 = 7x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+15x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+ 5x</a:t>
            </a:r>
            <a:r>
              <a:rPr b="0" baseline="-2500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→ min</a:t>
            </a:r>
            <a:endParaRPr b="0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4" name="Google Shape;57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981200"/>
            <a:ext cx="37338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600200"/>
            <a:ext cx="6172200" cy="4572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80" name="Google Shape;580;p65"/>
          <p:cNvSpPr/>
          <p:nvPr/>
        </p:nvSpPr>
        <p:spPr>
          <a:xfrm>
            <a:off x="1600200" y="1752600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Thanks for Your Attention!</a:t>
            </a:r>
            <a:endParaRPr b="1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P">
  <a:themeElements>
    <a:clrScheme name="Custom 4">
      <a:dk1>
        <a:srgbClr val="00B0F0"/>
      </a:dk1>
      <a:lt1>
        <a:srgbClr val="FFFFFF"/>
      </a:lt1>
      <a:dk2>
        <a:srgbClr val="00B0F0"/>
      </a:dk2>
      <a:lt2>
        <a:srgbClr val="DD8047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