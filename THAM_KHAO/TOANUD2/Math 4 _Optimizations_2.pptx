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Comfortaa SemiBold"/>
      <p:regular r:id="rId19"/>
      <p:bold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06B32-5316-4492-9ADA-4FB4A338DD7D}">
  <a:tblStyle styleId="{25C06B32-5316-4492-9ADA-4FB4A338DD7D}" styleName="Table_0">
    <a:wholeTbl>
      <a:tcTxStyle b="off" i="off">
        <a:font>
          <a:latin typeface="Times New Roman"/>
          <a:ea typeface="Times New Roman"/>
          <a:cs typeface="Times New Roman"/>
        </a:font>
        <a:srgbClr val="00B0F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5F8FA"/>
          </a:solidFill>
        </a:fill>
      </a:tcStyle>
    </a:wholeTbl>
    <a:band1H>
      <a:tcTxStyle/>
      <a:tcStyle>
        <a:fill>
          <a:solidFill>
            <a:srgbClr val="E9F0F5"/>
          </a:solidFill>
        </a:fill>
      </a:tcStyle>
    </a:band1H>
    <a:band2H>
      <a:tcTxStyle/>
    </a:band2H>
    <a:band1V>
      <a:tcTxStyle/>
      <a:tcStyle>
        <a:fill>
          <a:solidFill>
            <a:srgbClr val="E9F0F5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fill>
          <a:solidFill>
            <a:srgbClr val="94B6D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fill>
          <a:solidFill>
            <a:srgbClr val="94B6D2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94B6D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94B6D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SemiBold-bold.fntdata"/><Relationship Id="rId11" Type="http://schemas.openxmlformats.org/officeDocument/2006/relationships/slide" Target="slides/slide6.xml"/><Relationship Id="rId22" Type="http://schemas.openxmlformats.org/officeDocument/2006/relationships/font" Target="fonts/Comfortaa-bold.fntdata"/><Relationship Id="rId10" Type="http://schemas.openxmlformats.org/officeDocument/2006/relationships/slide" Target="slides/slide5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SemiBol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a6dd46d24_0_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a6dd46d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da6dd46d24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b83461e3f5_0_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b83461e3f5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b83461e3f5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a5cb9f0bb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a5cb9f0bb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ea5cb9f0bb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ea5cb9f0bb_0_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ea5cb9f0b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ea5cb9f0bb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a5cb9f0bb_0_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ea5cb9f0bb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ea5cb9f0bb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a5cb9f0bb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a5cb9f0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ea5cb9f0b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a5cb9f0bb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ea5cb9f0b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ea5cb9f0b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a5cb9f0bb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a5cb9f0bb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ea5cb9f0bb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a5cb9f0bb_0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ea5cb9f0b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ea5cb9f0bb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a5cb9f0bb_0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a5cb9f0bb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ea5cb9f0bb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a5cb9f0bb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ea5cb9f0b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ea5cb9f0bb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1753c9695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81753c9695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5" y="3968500"/>
            <a:ext cx="4229700" cy="2762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560"/>
              <a:buNone/>
              <a:defRPr b="0" i="0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49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2pPr>
            <a:lvl3pPr indent="-3149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3pPr>
            <a:lvl4pPr indent="-3149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4pPr>
            <a:lvl5pPr indent="-3149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5pPr>
            <a:lvl6pPr indent="-2921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348700" y="1239125"/>
            <a:ext cx="4053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3907717" cy="83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357475" y="649290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51200" y="1076950"/>
            <a:ext cx="843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200" y="1754125"/>
            <a:ext cx="3922800" cy="4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389125" y="1711850"/>
            <a:ext cx="44556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294075" y="642545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51196" y="1076941"/>
            <a:ext cx="7886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Georgia"/>
              <a:buNone/>
              <a:defRPr b="0" i="0" sz="34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200" y="1845400"/>
            <a:ext cx="8387700" cy="4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294075" y="6319775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300" cy="59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3242733" cy="690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437875" y="2788650"/>
            <a:ext cx="41649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sz="2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2600"/>
              <a:t>T</a:t>
            </a:r>
            <a:r>
              <a:rPr lang="en-US" sz="2600"/>
              <a:t>OÁN ỨNG DỤNG CÔNG NGHỆ THÔNG TIN</a:t>
            </a:r>
            <a:endParaRPr sz="2600"/>
          </a:p>
        </p:txBody>
      </p:sp>
      <p:sp>
        <p:nvSpPr>
          <p:cNvPr id="39" name="Google Shape;39;p6"/>
          <p:cNvSpPr txBox="1"/>
          <p:nvPr/>
        </p:nvSpPr>
        <p:spPr>
          <a:xfrm>
            <a:off x="1309143" y="4828745"/>
            <a:ext cx="494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37871" y="4735071"/>
            <a:ext cx="797700" cy="79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557456" cy="546308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163425" y="1582625"/>
            <a:ext cx="5450400" cy="23877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Chuyên đề tối ưu hóa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Bài 2: Linear 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AutoNum type="arabicPeriod"/>
            </a:pPr>
            <a:r>
              <a:rPr lang="en-US"/>
              <a:t>Giới thiệu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/>
              <a:t>Bài toán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/>
              <a:t>Các phép biến đổi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/>
              <a:t>Phương pháp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AutoNum type="alphaLcPeriod"/>
            </a:pPr>
            <a:r>
              <a:rPr lang="en-US"/>
              <a:t>Phương pháp đơn hình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AutoNum type="alphaLcPeriod"/>
            </a:pPr>
            <a:r>
              <a:rPr lang="en-US"/>
              <a:t>Phương pháp ẩn phụ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AutoNum type="alphaLcPeriod"/>
            </a:pPr>
            <a:r>
              <a:rPr lang="en-US"/>
              <a:t>Phương pháp đơn hình 2 pha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AutoNum type="alphaLcPeriod"/>
            </a:pPr>
            <a:r>
              <a:rPr lang="en-US"/>
              <a:t>Phương pháp M lớn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AutoNum type="alphaLcPeriod"/>
            </a:pPr>
            <a:r>
              <a:rPr lang="en-US"/>
              <a:t>Phương pháp từ vựng(tự tìm hiểu)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/>
              <a:t>Bài toán đối ngẫu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xác định khẩu phần ăn</a:t>
            </a:r>
            <a:endParaRPr/>
          </a:p>
        </p:txBody>
      </p:sp>
      <p:graphicFrame>
        <p:nvGraphicFramePr>
          <p:cNvPr id="63" name="Google Shape;63;p9"/>
          <p:cNvGraphicFramePr/>
          <p:nvPr/>
        </p:nvGraphicFramePr>
        <p:xfrm>
          <a:off x="1657625" y="434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{25C06B32-5316-4492-9ADA-4FB4A338DD7D}</a:tableStyleId>
              </a:tblPr>
              <a:tblGrid>
                <a:gridCol w="1676400"/>
                <a:gridCol w="892925"/>
                <a:gridCol w="1523975"/>
                <a:gridCol w="1735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</a:rPr>
                        <a:t>Thức ăn T1</a:t>
                      </a:r>
                      <a:endParaRPr b="1"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</a:rPr>
                        <a:t>Thức ăn T2</a:t>
                      </a:r>
                      <a:endParaRPr b="1"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Dinh dưỡng D1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60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Dinh dưỡng D2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Dinh dưỡng D3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60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Giá 1 kg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bull"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2500" y="2368050"/>
            <a:ext cx="3277200" cy="18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thiệu(2)</a:t>
            </a:r>
            <a:endParaRPr/>
          </a:p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Lập kế hoạch sản xuất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" name="Google Shape;72;p10"/>
          <p:cNvGraphicFramePr/>
          <p:nvPr/>
        </p:nvGraphicFramePr>
        <p:xfrm>
          <a:off x="1457500" y="268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{25C06B32-5316-4492-9ADA-4FB4A338DD7D}</a:tableStyleId>
              </a:tblPr>
              <a:tblGrid>
                <a:gridCol w="1739275"/>
                <a:gridCol w="1423025"/>
                <a:gridCol w="1581150"/>
                <a:gridCol w="1581150"/>
              </a:tblGrid>
              <a:tr h="1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 S1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S2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Vật liệu V1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1200 đv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Vật liệu V2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1080 đv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Giá bán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50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 (3)</a:t>
            </a:r>
            <a:endParaRPr/>
          </a:p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vận tải</a:t>
            </a:r>
            <a:endParaRPr/>
          </a:p>
        </p:txBody>
      </p:sp>
      <p:graphicFrame>
        <p:nvGraphicFramePr>
          <p:cNvPr id="80" name="Google Shape;80;p11"/>
          <p:cNvGraphicFramePr/>
          <p:nvPr/>
        </p:nvGraphicFramePr>
        <p:xfrm>
          <a:off x="1315325" y="250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{25C06B32-5316-4492-9ADA-4FB4A338DD7D}</a:tableStyleId>
              </a:tblPr>
              <a:tblGrid>
                <a:gridCol w="1159500"/>
                <a:gridCol w="948700"/>
                <a:gridCol w="1054100"/>
                <a:gridCol w="1054100"/>
                <a:gridCol w="1054100"/>
                <a:gridCol w="1054100"/>
              </a:tblGrid>
              <a:tr h="1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170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18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180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35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1"/>
          <p:cNvSpPr txBox="1"/>
          <p:nvPr/>
        </p:nvSpPr>
        <p:spPr>
          <a:xfrm>
            <a:off x="3372725" y="4108125"/>
            <a:ext cx="4267200" cy="3810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130             160	     120             140</a:t>
            </a:r>
            <a:endParaRPr/>
          </a:p>
        </p:txBody>
      </p:sp>
      <p:graphicFrame>
        <p:nvGraphicFramePr>
          <p:cNvPr id="82" name="Google Shape;82;p11"/>
          <p:cNvGraphicFramePr/>
          <p:nvPr/>
        </p:nvGraphicFramePr>
        <p:xfrm>
          <a:off x="2037250" y="487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{25C06B32-5316-4492-9ADA-4FB4A338DD7D}</a:tableStyleId>
              </a:tblPr>
              <a:tblGrid>
                <a:gridCol w="948700"/>
                <a:gridCol w="1054100"/>
                <a:gridCol w="1054100"/>
                <a:gridCol w="1054100"/>
                <a:gridCol w="1054100"/>
              </a:tblGrid>
              <a:tr h="1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T4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x11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x12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x13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x14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x21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x22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x23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x24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Kho K3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x31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x32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x33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x34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(1)</a:t>
            </a:r>
            <a:endParaRPr/>
          </a:p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Dạng tổng quát</a:t>
            </a:r>
            <a:endParaRPr/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50" y="2404714"/>
            <a:ext cx="7162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962" y="3699500"/>
            <a:ext cx="7467600" cy="2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toán(2)</a:t>
            </a:r>
            <a:endParaRPr/>
          </a:p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Dạng chuẩn tắc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763" y="2409300"/>
            <a:ext cx="71358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(3)</a:t>
            </a:r>
            <a:endParaRPr/>
          </a:p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Dạng chính tắc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025" y="2409300"/>
            <a:ext cx="5867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toán(4)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Dạng </a:t>
            </a:r>
            <a:r>
              <a:rPr lang="en-US"/>
              <a:t>chính</a:t>
            </a:r>
            <a:r>
              <a:rPr lang="en-US"/>
              <a:t> tắc ( </a:t>
            </a:r>
            <a:r>
              <a:rPr b="1" lang="en-US" u="sng"/>
              <a:t>đặc biệt</a:t>
            </a:r>
            <a:r>
              <a:rPr lang="en-US"/>
              <a:t>)</a:t>
            </a:r>
            <a:endParaRPr/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125" y="2451750"/>
            <a:ext cx="5550000" cy="4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toán(5)</a:t>
            </a:r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quy hoạch tuyến tính: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Hàm mục tiêu là tuyến tính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Tập ràng buộc tuyến tính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f(x) - hàm mục tiêu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Hệ (2) và hệ (3) trong bài toán chính tắc gọi tập ràng buộc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Biến                                 thỏa mãn tập ràng buộc gọi là phương án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Phương án tối ưu là phương án đảm bảo f(x) đạt mục tiêu  </a:t>
            </a:r>
            <a:endParaRPr/>
          </a:p>
        </p:txBody>
      </p:sp>
      <p:pic>
        <p:nvPicPr>
          <p:cNvPr descr="{&quot;code&quot;:&quot;$$x\\,=\\,\\left(x_{1},x_{2},...,\\,x_{n}\\right)$$&quot;,&quot;type&quot;:&quot;$$&quot;,&quot;id&quot;:&quot;1&quot;,&quot;backgroundColor&quot;:&quot;#ffffff&quot;,&quot;aid&quot;:null,&quot;font&quot;:{&quot;size&quot;:18,&quot;family&quot;:&quot;Comfortaa&quot;,&quot;color&quot;:&quot;#000000&quot;},&quot;backgroundColorModified&quot;:null,&quot;ts&quot;:1630575382341,&quot;cs&quot;:&quot;UX3BCrlueI72jVK1nhqJwQ==&quot;,&quot;size&quot;:{&quot;width&quot;:211.83333333333334,&quot;height&quot;:24.333333333333332}}" id="123" name="Google Shape;1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625" y="4165688"/>
            <a:ext cx="2017713" cy="2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</a:t>
            </a:r>
            <a:r>
              <a:rPr lang="en-US"/>
              <a:t>hép biến đổi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Chuyển bài toán về dạng </a:t>
            </a:r>
            <a:r>
              <a:rPr b="1" lang="en-US"/>
              <a:t>bài toán chính tắc</a:t>
            </a:r>
            <a:endParaRPr b="1"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545550"/>
            <a:ext cx="8305800" cy="40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1" type="ftr"/>
          </p:nvPr>
        </p:nvSpPr>
        <p:spPr>
          <a:xfrm>
            <a:off x="5357475" y="649290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1860650" y="3010850"/>
            <a:ext cx="5161528" cy="6191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Cám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