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y="6858000" cx="9144000"/>
  <p:notesSz cx="6858000" cy="9144000"/>
  <p:embeddedFontLst>
    <p:embeddedFont>
      <p:font typeface="Comfortaa SemiBold"/>
      <p:regular r:id="rId43"/>
      <p:bold r:id="rId44"/>
    </p:embeddedFont>
    <p:embeddedFont>
      <p:font typeface="Comfortaa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font" Target="fonts/ComfortaaSemiBold-bold.fntdata"/><Relationship Id="rId21" Type="http://schemas.openxmlformats.org/officeDocument/2006/relationships/slide" Target="slides/slide17.xml"/><Relationship Id="rId43" Type="http://schemas.openxmlformats.org/officeDocument/2006/relationships/font" Target="fonts/ComfortaaSemiBold-regular.fntdata"/><Relationship Id="rId24" Type="http://schemas.openxmlformats.org/officeDocument/2006/relationships/slide" Target="slides/slide20.xml"/><Relationship Id="rId46" Type="http://schemas.openxmlformats.org/officeDocument/2006/relationships/font" Target="fonts/Comfortaa-bold.fntdata"/><Relationship Id="rId23" Type="http://schemas.openxmlformats.org/officeDocument/2006/relationships/slide" Target="slides/slide19.xml"/><Relationship Id="rId45" Type="http://schemas.openxmlformats.org/officeDocument/2006/relationships/font" Target="fonts/Comforta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" name="Google Shape;3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a6dd46d24_0_6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da6dd46d24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gda6dd46d24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7b2d7c8c9b_1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7b2d7c8c9b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7b2d7c8c9b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ec7a626c0d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ec7a626c0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ec7a626c0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e5a7ba7afe_1_9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e5a7ba7afe_1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e5a7ba7afe_1_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e5a7ba7afe_1_10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e5a7ba7afe_1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e5a7ba7afe_1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e5a7ba7afe_1_10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e5a7ba7afe_1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e5a7ba7afe_1_1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e5a7ba7afe_1_20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e5a7ba7afe_1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e5a7ba7afe_1_2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e5a7ba7afe_1_2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e5a7ba7afe_1_2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e5a7ba7afe_1_2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e5a7ba7afe_1_1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e5a7ba7afe_1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e5a7ba7afe_1_1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e5a7ba7afe_1_1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e5a7ba7afe_1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e5a7ba7afe_1_1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e5a7ba7afe_1_15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e5a7ba7afe_1_1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e5a7ba7afe_1_1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e5a7ba7afe_1_17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e5a7ba7afe_1_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e5a7ba7afe_1_1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e5a7ba7afe_1_17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e5a7ba7afe_1_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e5a7ba7afe_1_1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e5a7ba7afe_1_2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e5a7ba7afe_1_2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e5a7ba7afe_1_2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c7a626c0d_0_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c7a626c0d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ec7a626c0d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b828dbca2d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b828dbca2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b828dbca2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b828dbca2d_0_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b828dbca2d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b828dbca2d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b828dbca2d_0_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b828dbca2d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b828dbca2d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b828dbca2d_0_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b828dbca2d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b828dbca2d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b828dbca2d_0_4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b828dbca2d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b828dbca2d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b828dbca2d_0_5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b828dbca2d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b828dbca2d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ec7a626c0d_0_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ec7a626c0d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ec7a626c0d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ec7a626c0d_0_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ec7a626c0d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ec7a626c0d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ec7a626c0d_0_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ec7a626c0d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ec7a626c0d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ec7a626c0d_0_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ec7a626c0d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ec7a626c0d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ec8985f9d8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ec8985f9d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ec8985f9d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ec8985f9d8_0_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ec8985f9d8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ec8985f9d8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ec8985f9d8_0_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ec8985f9d8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ec8985f9d8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ec8985f9d8_0_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ec8985f9d8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ec8985f9d8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ec8985f9d8_0_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ec8985f9d8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def closest_pair(points):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def distance(p1, p2):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return ((p1[0] - p2[0]) ** 2 + (p1[1] - p2[1]) ** 2) ** 0.5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def closest_pair_rec(points_sorted_x, points_sorted_y):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n = len(points_sorted_x)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if n &lt;= 3: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 # Nếu chỉ có 3 điểm hoặc ít hơn, tính khoảng cách brute force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 return min((distance(points_sorted_x[i], points_sorted_x[j]), points_sorted_x[i], points_sorted_x[j])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            for i in range(n) for j in range(i + 1, n))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# Chia đôi tập điểm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mid = n //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midpoint = points_sorted_x[mid]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# Chia các điểm theo hoành độ và tung độ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left_x = points_sorted_x[:mid]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right_x = points_sorted_x[mid:]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left_y = list(filter(lambda p: p[0] &lt;= midpoint[0], points_sorted_y))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right_y = list(filter(lambda p: p[0] &gt; midpoint[0], points_sorted_y))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# Gọi đệ quy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d_left = closest_pair_rec(left_x, left_y)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d_right = closest_pair_rec(right_x, right_y)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# Tìm khoảng cách nhỏ hơn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d_min = min(d_left, d_right, key=lambda x: x[0])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# Tìm các điểm gần đường chia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strip = [p for p in points_sorted_y if abs(p[0] - midpoint[0]) &lt; d_min[0]]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# Kiểm tra các điểm gần đường chia (theo trục 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for i in range(len(strip)):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 for j in range(i + 1, min(i + 7, len(strip))):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     d_strip = distance(strip[i], strip[j])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     if d_strip &lt; d_min[0]: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         d_min = (d_strip, strip[i], strip[j])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return d_min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# Sắp xếp các điểm theo tọa độ x và 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points_sorted_x = sorted(points, key=lambda p: p[0])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points_sorted_y = sorted(points, key=lambda p: p[1])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return closest_pair_rec(points_sorted_x, points_sorted_y)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ec8985f9d8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ec8985f9d8_0_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ec8985f9d8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ec8985f9d8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ec8985f9d8_0_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ec8985f9d8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ec8985f9d8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ec8985f9d8_0_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ec8985f9d8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ec8985f9d8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ec8985f9d8_0_7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ec8985f9d8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ec8985f9d8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ec8985f9d8_0_1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ec8985f9d8_0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https://www.youtube.com/watch?v=NQlzL0eDseQ</a:t>
            </a:r>
            <a:endParaRPr/>
          </a:p>
        </p:txBody>
      </p:sp>
      <p:sp>
        <p:nvSpPr>
          <p:cNvPr id="399" name="Google Shape;399;gec8985f9d8_0_1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83dc8595d8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83dc8595d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283dc8595d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81753c9695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81753c9695_0_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93775" y="3968500"/>
            <a:ext cx="4229700" cy="2762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560"/>
              <a:buNone/>
              <a:defRPr b="0" i="0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49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360"/>
              <a:buChar char="-"/>
              <a:defRPr sz="1000">
                <a:solidFill>
                  <a:schemeClr val="lt2"/>
                </a:solidFill>
              </a:defRPr>
            </a:lvl2pPr>
            <a:lvl3pPr indent="-3149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360"/>
              <a:buChar char="-"/>
              <a:defRPr sz="1000">
                <a:solidFill>
                  <a:schemeClr val="lt2"/>
                </a:solidFill>
              </a:defRPr>
            </a:lvl3pPr>
            <a:lvl4pPr indent="-3149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360"/>
              <a:buChar char="-"/>
              <a:defRPr sz="1000">
                <a:solidFill>
                  <a:schemeClr val="lt2"/>
                </a:solidFill>
              </a:defRPr>
            </a:lvl4pPr>
            <a:lvl5pPr indent="-3149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360"/>
              <a:buChar char="-"/>
              <a:defRPr sz="1000">
                <a:solidFill>
                  <a:schemeClr val="lt2"/>
                </a:solidFill>
              </a:defRPr>
            </a:lvl5pPr>
            <a:lvl6pPr indent="-2921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type="ctrTitle"/>
          </p:nvPr>
        </p:nvSpPr>
        <p:spPr>
          <a:xfrm>
            <a:off x="348700" y="1239125"/>
            <a:ext cx="4053000" cy="238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 b="1" i="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" name="Google Shape;20;p2"/>
          <p:cNvCxnSpPr/>
          <p:nvPr/>
        </p:nvCxnSpPr>
        <p:spPr>
          <a:xfrm>
            <a:off x="276359" y="2216727"/>
            <a:ext cx="0" cy="34023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21" name="Google Shape;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569" y="129505"/>
            <a:ext cx="3907717" cy="832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>
  <p:cSld name="Divider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493776" y="1490663"/>
            <a:ext cx="49788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rt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1" i="0" sz="3600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493776" y="3970337"/>
            <a:ext cx="4978800" cy="22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800"/>
            </a:lvl3pPr>
            <a:lvl4pPr lvl="3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4pPr>
            <a:lvl5pPr lvl="4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-"/>
              <a:defRPr>
                <a:latin typeface="Comfortaa"/>
                <a:ea typeface="Comfortaa"/>
                <a:cs typeface="Comfortaa"/>
                <a:sym typeface="Comfortaa"/>
              </a:defRPr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-"/>
              <a:defRPr>
                <a:latin typeface="Comfortaa"/>
                <a:ea typeface="Comfortaa"/>
                <a:cs typeface="Comfortaa"/>
                <a:sym typeface="Comfortaa"/>
              </a:defRPr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-"/>
              <a:defRPr>
                <a:latin typeface="Comfortaa"/>
                <a:ea typeface="Comfortaa"/>
                <a:cs typeface="Comfortaa"/>
                <a:sym typeface="Comfortaa"/>
              </a:defRPr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-"/>
              <a:defRPr>
                <a:latin typeface="Comfortaa"/>
                <a:ea typeface="Comfortaa"/>
                <a:cs typeface="Comfortaa"/>
                <a:sym typeface="Comfortaa"/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5357475" y="6492900"/>
            <a:ext cx="366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ouble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351200" y="1076950"/>
            <a:ext cx="843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25200" y="1754125"/>
            <a:ext cx="3922800" cy="4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389125" y="1711850"/>
            <a:ext cx="4455600" cy="46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5294075" y="6425450"/>
            <a:ext cx="366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51196" y="1076941"/>
            <a:ext cx="78867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Georgia"/>
              <a:buNone/>
              <a:defRPr b="0" i="0" sz="3400" u="none" cap="none" strike="noStrik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25200" y="1845400"/>
            <a:ext cx="8387700" cy="43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 SemiBold"/>
              <a:buChar char="•"/>
              <a:defRPr i="0" sz="18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1pPr>
            <a:lvl2pPr indent="-365760" lvl="1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 SemiBold"/>
              <a:buChar char="-"/>
              <a:defRPr i="0" sz="18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2pPr>
            <a:lvl3pPr indent="-365760" lvl="2" marL="13716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 SemiBold"/>
              <a:buChar char="-"/>
              <a:defRPr i="0" sz="18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3pPr>
            <a:lvl4pPr indent="-365760" lvl="3" marL="18288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 SemiBold"/>
              <a:buChar char="-"/>
              <a:defRPr i="0" sz="18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4pPr>
            <a:lvl5pPr indent="-365760" lvl="4" marL="22860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 SemiBold"/>
              <a:buChar char="-"/>
              <a:defRPr i="0" sz="18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mfortaa SemiBold"/>
              <a:buChar char="•"/>
              <a:defRPr i="0" sz="18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mfortaa SemiBold"/>
              <a:buChar char="•"/>
              <a:defRPr i="0" sz="18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mfortaa SemiBold"/>
              <a:buChar char="•"/>
              <a:defRPr i="0" sz="18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mfortaa SemiBold"/>
              <a:buChar char="•"/>
              <a:defRPr i="0" sz="1800" u="none" cap="none" strike="noStrike">
                <a:latin typeface="Comfortaa SemiBold"/>
                <a:ea typeface="Comfortaa SemiBold"/>
                <a:cs typeface="Comfortaa SemiBold"/>
                <a:sym typeface="Comfortaa SemiBold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5294075" y="6319775"/>
            <a:ext cx="366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/>
        </p:nvSpPr>
        <p:spPr>
          <a:xfrm>
            <a:off x="5542161" y="217021"/>
            <a:ext cx="2769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311897" y="134971"/>
            <a:ext cx="645300" cy="596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2631" y="-33229"/>
            <a:ext cx="3242733" cy="6905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1555" y="140531"/>
            <a:ext cx="702733" cy="622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27.png"/><Relationship Id="rId5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Relationship Id="rId4" Type="http://schemas.openxmlformats.org/officeDocument/2006/relationships/image" Target="../media/image35.png"/><Relationship Id="rId5" Type="http://schemas.openxmlformats.org/officeDocument/2006/relationships/image" Target="../media/image34.png"/><Relationship Id="rId6" Type="http://schemas.openxmlformats.org/officeDocument/2006/relationships/image" Target="../media/image47.png"/><Relationship Id="rId7" Type="http://schemas.openxmlformats.org/officeDocument/2006/relationships/image" Target="../media/image3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4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2.png"/><Relationship Id="rId4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Relationship Id="rId4" Type="http://schemas.openxmlformats.org/officeDocument/2006/relationships/image" Target="../media/image3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40.png"/><Relationship Id="rId5" Type="http://schemas.openxmlformats.org/officeDocument/2006/relationships/image" Target="../media/image5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image" Target="../media/image4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5.png"/><Relationship Id="rId4" Type="http://schemas.openxmlformats.org/officeDocument/2006/relationships/image" Target="../media/image51.png"/><Relationship Id="rId5" Type="http://schemas.openxmlformats.org/officeDocument/2006/relationships/image" Target="../media/image54.png"/><Relationship Id="rId6" Type="http://schemas.openxmlformats.org/officeDocument/2006/relationships/image" Target="../media/image6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9.png"/><Relationship Id="rId4" Type="http://schemas.openxmlformats.org/officeDocument/2006/relationships/image" Target="../media/image4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9.png"/><Relationship Id="rId4" Type="http://schemas.openxmlformats.org/officeDocument/2006/relationships/image" Target="../media/image53.png"/><Relationship Id="rId5" Type="http://schemas.openxmlformats.org/officeDocument/2006/relationships/image" Target="../media/image5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4.png"/><Relationship Id="rId4" Type="http://schemas.openxmlformats.org/officeDocument/2006/relationships/image" Target="../media/image6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8.png"/><Relationship Id="rId4" Type="http://schemas.openxmlformats.org/officeDocument/2006/relationships/image" Target="../media/image7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7.png"/><Relationship Id="rId4" Type="http://schemas.openxmlformats.org/officeDocument/2006/relationships/image" Target="../media/image61.png"/></Relationships>
</file>

<file path=ppt/slides/_rels/slide35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70.png"/><Relationship Id="rId13" Type="http://schemas.openxmlformats.org/officeDocument/2006/relationships/image" Target="../media/image72.png"/><Relationship Id="rId12" Type="http://schemas.openxmlformats.org/officeDocument/2006/relationships/image" Target="../media/image7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1.png"/><Relationship Id="rId4" Type="http://schemas.openxmlformats.org/officeDocument/2006/relationships/image" Target="../media/image66.png"/><Relationship Id="rId9" Type="http://schemas.openxmlformats.org/officeDocument/2006/relationships/image" Target="../media/image83.png"/><Relationship Id="rId15" Type="http://schemas.openxmlformats.org/officeDocument/2006/relationships/image" Target="../media/image69.png"/><Relationship Id="rId14" Type="http://schemas.openxmlformats.org/officeDocument/2006/relationships/image" Target="../media/image80.png"/><Relationship Id="rId16" Type="http://schemas.openxmlformats.org/officeDocument/2006/relationships/image" Target="../media/image68.png"/><Relationship Id="rId5" Type="http://schemas.openxmlformats.org/officeDocument/2006/relationships/image" Target="../media/image63.png"/><Relationship Id="rId6" Type="http://schemas.openxmlformats.org/officeDocument/2006/relationships/image" Target="../media/image76.png"/><Relationship Id="rId7" Type="http://schemas.openxmlformats.org/officeDocument/2006/relationships/image" Target="../media/image75.png"/><Relationship Id="rId8" Type="http://schemas.openxmlformats.org/officeDocument/2006/relationships/image" Target="../media/image7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1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ctrTitle"/>
          </p:nvPr>
        </p:nvSpPr>
        <p:spPr>
          <a:xfrm>
            <a:off x="437875" y="2788650"/>
            <a:ext cx="41649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t/>
            </a:r>
            <a:endParaRPr sz="29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2600"/>
              <a:t>T</a:t>
            </a:r>
            <a:r>
              <a:rPr lang="en-US" sz="2600"/>
              <a:t>OÁN ỨNG DỤNG CÔNG NGHỆ THÔNG TIN</a:t>
            </a:r>
            <a:endParaRPr sz="2600"/>
          </a:p>
        </p:txBody>
      </p:sp>
      <p:sp>
        <p:nvSpPr>
          <p:cNvPr id="39" name="Google Shape;39;p6"/>
          <p:cNvSpPr txBox="1"/>
          <p:nvPr/>
        </p:nvSpPr>
        <p:spPr>
          <a:xfrm>
            <a:off x="1309143" y="4828745"/>
            <a:ext cx="494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1" i="0" sz="16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437871" y="4735071"/>
            <a:ext cx="797700" cy="797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464" y="4764626"/>
            <a:ext cx="557456" cy="546308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ctrTitle"/>
          </p:nvPr>
        </p:nvSpPr>
        <p:spPr>
          <a:xfrm>
            <a:off x="493776" y="1490663"/>
            <a:ext cx="4978800" cy="23877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/>
              <a:t>Chuyên đề:</a:t>
            </a:r>
            <a:r>
              <a:rPr lang="en-US" sz="3200"/>
              <a:t> </a:t>
            </a:r>
            <a:endParaRPr sz="3200"/>
          </a:p>
          <a:p>
            <a:pPr indent="0" lvl="0" marL="0" marR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Hình học</a:t>
            </a:r>
            <a:endParaRPr sz="4400"/>
          </a:p>
          <a:p>
            <a:pPr indent="0" lvl="0" marL="0" marR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(</a:t>
            </a:r>
            <a:r>
              <a:rPr lang="en-US" sz="3200"/>
              <a:t>Geometry for cs</a:t>
            </a:r>
            <a:r>
              <a:rPr lang="en-US" sz="3200"/>
              <a:t>) </a:t>
            </a:r>
            <a:endParaRPr sz="3200"/>
          </a:p>
        </p:txBody>
      </p:sp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493776" y="3970337"/>
            <a:ext cx="4978800" cy="22131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Các khái niệm cơ bản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Biểu diễn hình học của số phức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Biểu diễn hình học cộng và trừ hai vectơ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Hàm khoảng cách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Bài toán cặp điểm gần nhất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Bài toán bao lồi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522825" y="327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Các khái niệm cơ bản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Các khái niệm cơ bản</a:t>
            </a:r>
            <a:endParaRPr/>
          </a:p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u="sng"/>
              <a:t>Điểm</a:t>
            </a:r>
            <a:endParaRPr b="1" u="sng"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Điểm được biểu diễn trên Oxy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Điểm được biểu diễn trên Oxyz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Điểm được biểu diễn trên máy tính thường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      struct Point { int x, int y }</a:t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Khoảng cách giữa hai điểm A và B </a:t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double dist( Point A, Point B)</a:t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{</a:t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return sqrt((B.x-A.x)x(</a:t>
            </a:r>
            <a:r>
              <a:rPr lang="en-US"/>
              <a:t>B.x-A.x) + (B.y-A.y)x(B.y-A.y));</a:t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Các khái niệm cơ bản</a:t>
            </a:r>
            <a:endParaRPr/>
          </a:p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u="sng"/>
              <a:t>Đ</a:t>
            </a:r>
            <a:r>
              <a:rPr b="1" lang="en-US" u="sng"/>
              <a:t>ường thẳng</a:t>
            </a:r>
            <a:endParaRPr b="1" u="sng"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Đường thẳng trong mặt phẳng được xác định bởi hai điểm phân biệt A và B nằm trên đường thẳng.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Tập hợp các điểm M nằm trên đường thẳng AB: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Các trường hợp có thể xảy ra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t  &lt; 0 , thì điểm M nằm ngoài đoạn AB về phía A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t  &gt;  1, thì điểm M nằm ngoài đoạn AB về phía B 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trường hợp còn lại M thuộc đoạn [AB]</a:t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font&quot;:{&quot;size&quot;:18,&quot;color&quot;:&quot;#000000&quot;,&quot;family&quot;:&quot;Comfortaa&quot;},&quot;code&quot;:&quot;\\begin{lalign*}\n&amp;{\\left(x_{M}-x_{A},y_{M}-y_{A}\\right)=\\,t.\\left(x_{B}-x_{A},y_{B}-y_{A}\\right)}\\\\\n&amp;{\\Rightarrow\\begin{cases}\n{x_{M}-x_{A}}&amp;{=t.\\left(x_{B}-x_{A}\\right)}\\\\\n{y_{M}-y_{A}}&amp;{=t.\\left(y_{B}-y_{A}\\right)}\\\\\n\\end{cases}}\t\n\\end{lalign*}&quot;,&quot;backgroundColorModified&quot;:null,&quot;aid&quot;:null,&quot;id&quot;:&quot;17&quot;,&quot;type&quot;:&quot;lalign*&quot;,&quot;backgroundColor&quot;:&quot;#ffffff&quot;,&quot;ts&quot;:1626770851893,&quot;cs&quot;:&quot;+yLtmPCWU+lgejUrl4lw5Q==&quot;,&quot;size&quot;:{&quot;width&quot;:458.3333333333333,&quot;height&quot;:90}}" id="76" name="Google Shape;7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1007" y="3721125"/>
            <a:ext cx="4365625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Các khái niệm cơ bản</a:t>
            </a:r>
            <a:endParaRPr/>
          </a:p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>
            <a:off x="425200" y="1821425"/>
            <a:ext cx="87189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u="sng"/>
              <a:t>Vectơ</a:t>
            </a:r>
            <a:endParaRPr b="1" u="sng"/>
          </a:p>
          <a:p>
            <a:pPr indent="-365760" lvl="0" marL="4572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Vectơ biểu diễn đại lượng có cả độ lớn (magnitude) và hướng(direction)</a:t>
            </a:r>
            <a:endParaRPr/>
          </a:p>
          <a:p>
            <a:pPr indent="-3657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Độ lớn là chiều dài, hướng là từ đuôi (tail) đến đầu (head) của vectơ</a:t>
            </a:r>
            <a:endParaRPr/>
          </a:p>
          <a:p>
            <a:pPr indent="-3657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Trực quan hóa vectơ:</a:t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275" y="4277750"/>
            <a:ext cx="6967775" cy="246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Các khái niệm cơ bản</a:t>
            </a:r>
            <a:r>
              <a:rPr lang="en-US"/>
              <a:t> </a:t>
            </a:r>
            <a:endParaRPr/>
          </a:p>
        </p:txBody>
      </p:sp>
      <p:sp>
        <p:nvSpPr>
          <p:cNvPr id="91" name="Google Shape;91;p13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Vectơ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 Cộng hai vectơ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Trừ hai vectơ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P</a:t>
            </a:r>
            <a:r>
              <a:rPr b="1" lang="en-US"/>
              <a:t>hương pháp hình bình hành</a:t>
            </a:r>
            <a:endParaRPr b="1"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Vẽ các vectơ sao cho các điểm ban đầu trùng nhau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Vẽ đường thẳng tạo hình bình hành hoàn chỉnh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Đường chéo từ điểm ban đầu đến đối diện là kết quả</a:t>
            </a:r>
            <a:endParaRPr/>
          </a:p>
        </p:txBody>
      </p:sp>
      <p:pic>
        <p:nvPicPr>
          <p:cNvPr descr="{&quot;backgroundColor&quot;:&quot;#ffffff&quot;,&quot;id&quot;:&quot;6&quot;,&quot;font&quot;:{&quot;color&quot;:&quot;#000000&quot;,&quot;family&quot;:&quot;Comfortaa&quot;,&quot;size&quot;:18},&quot;backgroundColorModified&quot;:false,&quot;code&quot;:&quot;\\begin{align*}\n{a}&amp;={\\left(a_{x},\\,a_{y}\\right)^{T},\\,b\\,=\\,\\left(b_{x},\\,b_{y}\\right)^{T}}\t\n\\end{align*}&quot;,&quot;type&quot;:&quot;align*&quot;,&quot;aid&quot;:null,&quot;ts&quot;:1626620974460,&quot;cs&quot;:&quot;qGJ99pmFdn88E1ccxXBj3w==&quot;,&quot;size&quot;:{&quot;width&quot;:291,&quot;height&quot;:30}}" id="92" name="Google Shape;9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9600" y="1985571"/>
            <a:ext cx="27717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type&quot;:&quot;align*&quot;,&quot;code&quot;:&quot;\\begin{align*}\n{a+b}&amp;={\\left(a_{x}+b_{x},\\,a_{y}+b_{y}\\right)^{T}}\t\n\\end{align*}&quot;,&quot;backgroundColor&quot;:&quot;#ffffff&quot;,&quot;id&quot;:&quot;6&quot;,&quot;font&quot;:{&quot;color&quot;:&quot;#000000&quot;,&quot;size&quot;:18,&quot;family&quot;:&quot;Comfortaa&quot;},&quot;ts&quot;:1626621079587,&quot;cs&quot;:&quot;oPrfisFkCe5iC2nIsbxJ3Q==&quot;,&quot;size&quot;:{&quot;width&quot;:278,&quot;height&quot;:30}}" id="93" name="Google Shape;9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1838" y="2408121"/>
            <a:ext cx="2647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font&quot;:{&quot;family&quot;:&quot;Comfortaa&quot;,&quot;size&quot;:18,&quot;color&quot;:&quot;#000000&quot;},&quot;type&quot;:&quot;align*&quot;,&quot;aid&quot;:null,&quot;backgroundColor&quot;:&quot;#ffffff&quot;,&quot;code&quot;:&quot;\\begin{align*}\n{a-b}&amp;={\\left(a_{x}-b_{x},\\,a_{y}-b_{y}\\right)^{T}}\t\n\\end{align*}&quot;,&quot;id&quot;:&quot;6&quot;,&quot;ts&quot;:1633426708035,&quot;cs&quot;:&quot;r+fPksLB393HYi/M3ZKg9Q==&quot;,&quot;size&quot;:{&quot;width&quot;:278.25000000000006,&quot;height&quot;:30.5}}" id="94" name="Google Shape;9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8571" y="2830671"/>
            <a:ext cx="2650331" cy="290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6275" y="5090525"/>
            <a:ext cx="7574374" cy="17674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180775" y="16382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 u="sng">
                <a:latin typeface="Comfortaa"/>
                <a:ea typeface="Comfortaa"/>
                <a:cs typeface="Comfortaa"/>
                <a:sym typeface="Comfortaa"/>
              </a:rPr>
              <a:t>Cộng trừ Vectơ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Các khái niệm cơ bản</a:t>
            </a:r>
            <a:endParaRPr/>
          </a:p>
        </p:txBody>
      </p:sp>
      <p:sp>
        <p:nvSpPr>
          <p:cNvPr id="103" name="Google Shape;103;p14"/>
          <p:cNvSpPr txBox="1"/>
          <p:nvPr>
            <p:ph idx="1" type="body"/>
          </p:nvPr>
        </p:nvSpPr>
        <p:spPr>
          <a:xfrm>
            <a:off x="435400" y="1937700"/>
            <a:ext cx="85485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Cộng hai vectơ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Trừ hai vectơ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P</a:t>
            </a:r>
            <a:r>
              <a:rPr b="1" lang="en-US"/>
              <a:t>hương pháp tam giác  </a:t>
            </a:r>
            <a:endParaRPr b="1"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Vẽ các vectơ lần lượt sao cho đặt điểm đầu của vectơ kế tiếp  tại điểm cuối của vectơ trước đó 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Vectơ với điểm đầu của vectơ đầu tiên đến điểm cuối của vectơ cuối cùng là kết quả</a:t>
            </a:r>
            <a:endParaRPr/>
          </a:p>
        </p:txBody>
      </p:sp>
      <p:pic>
        <p:nvPicPr>
          <p:cNvPr descr="{&quot;aid&quot;:null,&quot;backgroundColorModified&quot;:false,&quot;type&quot;:&quot;align*&quot;,&quot;code&quot;:&quot;\\begin{align*}\n{a+b}&amp;={\\left(a_{x}+b_{x},\\,a_{y}+b_{y}\\right)^{T}}\t\n\\end{align*}&quot;,&quot;backgroundColor&quot;:&quot;#ffffff&quot;,&quot;id&quot;:&quot;6&quot;,&quot;font&quot;:{&quot;color&quot;:&quot;#000000&quot;,&quot;size&quot;:18,&quot;family&quot;:&quot;Comfortaa&quot;},&quot;ts&quot;:1626621079587,&quot;cs&quot;:&quot;oPrfisFkCe5iC2nIsbxJ3Q==&quot;,&quot;size&quot;:{&quot;width&quot;:278,&quot;height&quot;:30}}"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6063" y="2048971"/>
            <a:ext cx="2647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align*&quot;,&quot;id&quot;:&quot;6&quot;,&quot;font&quot;:{&quot;color&quot;:&quot;#000000&quot;,&quot;size&quot;:18,&quot;family&quot;:&quot;Comfortaa&quot;},&quot;code&quot;:&quot;\\begin{align*}\n{a-b}&amp;={\\left(a_{x}-b_{x},\\,a_{y}-b_{y}\\right)^{T}}\t\n\\end{align*}&quot;,&quot;aid&quot;:null,&quot;backgroundColorModified&quot;:false,&quot;backgroundColor&quot;:&quot;#ffffff&quot;,&quot;ts&quot;:1633426826759,&quot;cs&quot;:&quot;R6l3ubNtX8Io/n+r+q0KHg==&quot;,&quot;size&quot;:{&quot;width&quot;:278.25000000000006,&quot;height&quot;:30.5}}" id="105" name="Google Shape;10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6096" y="2511671"/>
            <a:ext cx="2650331" cy="290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6700" y="4896100"/>
            <a:ext cx="7142725" cy="184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80775" y="15872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 u="sng">
                <a:latin typeface="Comfortaa"/>
                <a:ea typeface="Comfortaa"/>
                <a:cs typeface="Comfortaa"/>
                <a:sym typeface="Comfortaa"/>
              </a:rPr>
              <a:t>Cộng trừ Vectơ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Các khái niệm cơ bản</a:t>
            </a:r>
            <a:endParaRPr/>
          </a:p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516675" y="1821425"/>
            <a:ext cx="82977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u="sng"/>
              <a:t>Tích vô hướng của hai vectơ</a:t>
            </a:r>
            <a:endParaRPr b="1" u="sng"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Tích vô hướng của hai vectơ là một số với giá trị </a:t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font&quot;:{&quot;family&quot;:&quot;Comfortaa&quot;,&quot;color&quot;:&quot;#000000&quot;,&quot;size&quot;:18},&quot;code&quot;:&quot;\\begin{align*}\n{a\\cdot b=\\left|a\\right|.\\left|b\\right|\\cos\\theta =a_{x}.b_{x}\\,+a_{y}.b_{y};\\,a}&amp;={\\left(a_{x},\\,a_{y}\\right)^{T},\\,b\\,=\\,\\left(b_{x},\\,b_{y}\\right)^{T}\\,}\t\n\\end{align*}&quot;,&quot;aid&quot;:null,&quot;backgroundColorModified&quot;:false,&quot;backgroundColor&quot;:&quot;#ffffff&quot;,&quot;id&quot;:&quot;6&quot;,&quot;type&quot;:&quot;align*&quot;,&quot;ts&quot;:1626773028107,&quot;cs&quot;:&quot;u85rg7HPdlMX0Mx62coI2Q==&quot;,&quot;size&quot;:{&quot;width&quot;:669.5,&quot;height&quot;:30}}" id="115" name="Google Shape;11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300" y="2912376"/>
            <a:ext cx="6376988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675" y="3586950"/>
            <a:ext cx="1842075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6250" y="3707725"/>
            <a:ext cx="3142100" cy="269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45375" y="4653325"/>
            <a:ext cx="3394225" cy="109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Các khái niệm cơ bản</a:t>
            </a:r>
            <a:endParaRPr/>
          </a:p>
        </p:txBody>
      </p:sp>
      <p:sp>
        <p:nvSpPr>
          <p:cNvPr id="125" name="Google Shape;125;p16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u="sng"/>
              <a:t>Tích </a:t>
            </a:r>
            <a:r>
              <a:rPr b="1" lang="en-US" u="sng"/>
              <a:t>hữu</a:t>
            </a:r>
            <a:r>
              <a:rPr b="1" lang="en-US" u="sng"/>
              <a:t> hướng của hai vectơ</a:t>
            </a:r>
            <a:endParaRPr b="1" u="sng"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Tích hữu hướng của hai vectơ ( cross product)  là vectơ vuông góc với hai vectơ trên 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Tọa độ </a:t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1" marL="914400" rtl="0" algn="l">
              <a:spcBef>
                <a:spcPts val="60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Độ lớn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Hướng</a:t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code&quot;:&quot;\\begin{align*}\n{a}&amp;={\\left(a_{x},\\,a_{y},a_{z}\\right)^{T},\\,b\\,=\\,\\left(b_{x},\\,b_{y},b_{z}\\right)^{T}}\t\n\\end{align*}&quot;,&quot;type&quot;:&quot;align*&quot;,&quot;backgroundColor&quot;:&quot;#ffffff&quot;,&quot;aid&quot;:null,&quot;id&quot;:&quot;6&quot;,&quot;backgroundColorModified&quot;:false,&quot;font&quot;:{&quot;size&quot;:18,&quot;family&quot;:&quot;Comfortaa&quot;,&quot;color&quot;:&quot;#000000&quot;},&quot;ts&quot;:1626607622411,&quot;cs&quot;:&quot;KnX1GD3phDsXopJDL3jIhg==&quot;,&quot;size&quot;:{&quot;width&quot;:355,&quot;height&quot;:30}}" id="126" name="Google Shape;12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225" y="2360396"/>
            <a:ext cx="33813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font&quot;:{&quot;family&quot;:&quot;Comfortaa&quot;,&quot;color&quot;:&quot;#000000&quot;,&quot;size&quot;:18},&quot;code&quot;:&quot;$a\\times b=\\begin{vmatrix}\n{a_{x}}&amp;{b_{x}}\\\\\n{a_{y}}&amp;{b_{y}}\\\\\n{a_{z}}&amp;{b_{z}}\\\\\n\\end{vmatrix}=\\left(\\begin{vmatrix}\n{a_{y}}&amp;{b_{y}}\\\\\n{a_{z}}&amp;{b_{z}}\\\\\n\\end{vmatrix},-\\begin{vmatrix}\n{a_{x}}&amp;{b_{x}}\\\\\n{a_{z}}&amp;{b_{z}}\\\\\n\\end{vmatrix},\\begin{vmatrix}\n{a_{x}}&amp;{b_{x}}\\\\\n{a_{y}}&amp;{b_{y}}\\\\\n\\end{vmatrix}\\right)$&quot;,&quot;id&quot;:&quot;7&quot;,&quot;backgroundColor&quot;:&quot;#ffffff&quot;,&quot;type&quot;:&quot;$&quot;,&quot;aid&quot;:null,&quot;ts&quot;:1626665503213,&quot;cs&quot;:&quot;9S30WB/ICQ5H9kRm06Pv7A==&quot;,&quot;size&quot;:{&quot;width&quot;:529.5,&quot;height&quot;:94}}" id="127" name="Google Shape;12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2625" y="3454280"/>
            <a:ext cx="5043488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\\begin{vmatrix}\n{a\\times b}\\\\\n\\end{vmatrix}=\\left|a\\right|\\cdot\\left|b\\right|\\cdot \\sin\\theta$&quot;,&quot;aid&quot;:null,&quot;backgroundColor&quot;:&quot;#ffffff&quot;,&quot;type&quot;:&quot;$&quot;,&quot;backgroundColorModified&quot;:false,&quot;id&quot;:&quot;11&quot;,&quot;font&quot;:{&quot;color&quot;:&quot;#000000&quot;,&quot;family&quot;:&quot;Comfortaa&quot;,&quot;size&quot;:18},&quot;ts&quot;:1626665693876,&quot;cs&quot;:&quot;jOtmDuH/cnX/7IjAFs+gmg==&quot;,&quot;size&quot;:{&quot;width&quot;:226.79999999999995,&quot;height&quot;:24.20000000000003}}" id="128" name="Google Shape;12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2625" y="4611475"/>
            <a:ext cx="2160270" cy="230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4701" y="5334975"/>
            <a:ext cx="3319549" cy="128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59425" y="5419603"/>
            <a:ext cx="3866677" cy="1200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Các khái niệm cơ bản</a:t>
            </a:r>
            <a:endParaRPr/>
          </a:p>
        </p:txBody>
      </p:sp>
      <p:sp>
        <p:nvSpPr>
          <p:cNvPr id="137" name="Google Shape;137;p17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u="sng"/>
              <a:t>Tam giác</a:t>
            </a:r>
            <a:endParaRPr b="1" u="sng"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 </a:t>
            </a:r>
            <a:r>
              <a:rPr lang="en-US"/>
              <a:t>Ba điểm phân biệt A, B, C thỏa mãn điều của một tam giác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t/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Kh</a:t>
            </a:r>
            <a:r>
              <a:rPr lang="en-US"/>
              <a:t>oảng cách điểm C đến đường thẳng đi qua hai điểm A, B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 </a:t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backgroundColorModified&quot;:false,&quot;code&quot;:&quot;$S_{\\Delta ABC}=\\frac{1}{2}\\left|AB\\times AC\\right|=\\frac{1}{2}\\left|AB\\right|\\cdot\\left|AC\\right|\\cdot \\sin\\left(AB,\\,AC\\right)$&quot;,&quot;id&quot;:&quot;18&quot;,&quot;font&quot;:{&quot;size&quot;:18,&quot;color&quot;:&quot;#000000&quot;,&quot;family&quot;:&quot;Comfortaa&quot;},&quot;aid&quot;:null,&quot;type&quot;:&quot;$&quot;,&quot;backgroundColor&quot;:&quot;#ffffff&quot;,&quot;ts&quot;:1663396160363,&quot;cs&quot;:&quot;RuZCjCF5X4g0+3MyPb1bKw==&quot;,&quot;size&quot;:{&quot;width&quot;:563.5,&quot;height&quot;:30}}" id="138" name="Google Shape;13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675" y="2833540"/>
            <a:ext cx="5367338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9575" y="4154575"/>
            <a:ext cx="289552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9&quot;,&quot;code&quot;:&quot;$CH\\,=\\,\\frac{2\\cdot S_{\\Delta ABC}}{\\left|AB\\right|}$&quot;,&quot;backgroundColor&quot;:&quot;#ffffff&quot;,&quot;backgroundColorModified&quot;:null,&quot;type&quot;:&quot;$&quot;,&quot;font&quot;:{&quot;size&quot;:18,&quot;color&quot;:&quot;#000000&quot;,&quot;family&quot;:&quot;Comfortaa&quot;},&quot;aid&quot;:null,&quot;ts&quot;:1626834884149,&quot;cs&quot;:&quot;VehamyaHWNlJBrgz5KUrEw==&quot;,&quot;size&quot;:{&quot;width&quot;:150,&quot;height&quot;:37}}" id="140" name="Google Shape;14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7725" y="3665475"/>
            <a:ext cx="14287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19350" y="3858500"/>
            <a:ext cx="5176849" cy="288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Các khái niệm cơ bản</a:t>
            </a:r>
            <a:endParaRPr/>
          </a:p>
        </p:txBody>
      </p:sp>
      <p:sp>
        <p:nvSpPr>
          <p:cNvPr id="148" name="Google Shape;148;p18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u="sng"/>
              <a:t>Đ</a:t>
            </a:r>
            <a:r>
              <a:rPr b="1" lang="en-US" u="sng"/>
              <a:t>ường tròn</a:t>
            </a:r>
            <a:endParaRPr b="1" u="sng"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Tập hợp các điểm cách đều một điểm cho trước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Đường tròn tâm A, bán kính r </a:t>
            </a:r>
            <a:r>
              <a:rPr lang="en-US"/>
              <a:t>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t/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975" y="3651550"/>
            <a:ext cx="2914650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Các khái niệm cơ bản</a:t>
            </a:r>
            <a:endParaRPr/>
          </a:p>
        </p:txBody>
      </p:sp>
      <p:sp>
        <p:nvSpPr>
          <p:cNvPr id="156" name="Google Shape;156;p19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u="sng"/>
              <a:t>Đa giác</a:t>
            </a:r>
            <a:endParaRPr b="1" u="sng"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Đa giác là đường gấp khúc khép kín.</a:t>
            </a:r>
            <a:r>
              <a:rPr lang="en-US"/>
              <a:t>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Đa giác lưu bởi dãy điểm nối tiếp nhau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Diện tích của đa giác theo công thức(Green's Theorem )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id&quot;:&quot;20&quot;,&quot;backgroundColor&quot;:&quot;#ffffff&quot;,&quot;backgroundColorModified&quot;:null,&quot;type&quot;:&quot;$&quot;,&quot;code&quot;:&quot;$A_{1},A_{2},...,A_{n}$&quot;,&quot;aid&quot;:null,&quot;font&quot;:{&quot;family&quot;:&quot;Comfortaa&quot;,&quot;size&quot;:18,&quot;color&quot;:&quot;#000000&quot;},&quot;ts&quot;:1626836949589,&quot;cs&quot;:&quot;pU4sMXYiYDERBLYzesHdIg==&quot;,&quot;size&quot;:{&quot;width&quot;:148.5,&quot;height&quot;:22}}" id="157" name="Google Shape;15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1825" y="2864100"/>
            <a:ext cx="1414463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Comfortaa&quot;,&quot;size&quot;:18,&quot;color&quot;:&quot;#000000&quot;},&quot;type&quot;:&quot;$&quot;,&quot;aid&quot;:null,&quot;backgroundColor&quot;:&quot;#ffffff&quot;,&quot;code&quot;:&quot;$S=\\frac{1}{2}\\left|\\sum_{i=1}^{n-1}\\left(A_{i}\\times A_{i+1}\\right)\\right|=\\frac{1}{2}\\left|\\sum_{i=1}^{n-1}\\left(x_{i}y_{i+1}-x_{i+1}y_{i}\\right)\\right|$&quot;,&quot;backgroundColorModified&quot;:null,&quot;id&quot;:&quot;21&quot;,&quot;ts&quot;:1626837496575,&quot;cs&quot;:&quot;6hm9RJpJVrN46FiPeWV60Q==&quot;,&quot;size&quot;:{&quot;width&quot;:559.5,&quot;height&quot;:34}}" id="158" name="Google Shape;15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8125" y="3654975"/>
            <a:ext cx="5329238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2600" y="4247000"/>
            <a:ext cx="7151775" cy="241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Các khái niệm cơ bản</a:t>
            </a:r>
            <a:endParaRPr/>
          </a:p>
        </p:txBody>
      </p:sp>
      <p:sp>
        <p:nvSpPr>
          <p:cNvPr id="166" name="Google Shape;166;p20"/>
          <p:cNvSpPr txBox="1"/>
          <p:nvPr>
            <p:ph idx="1" type="body"/>
          </p:nvPr>
        </p:nvSpPr>
        <p:spPr>
          <a:xfrm>
            <a:off x="425200" y="1821425"/>
            <a:ext cx="87189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u="sng"/>
              <a:t>Đa giác</a:t>
            </a:r>
            <a:endParaRPr b="1" u="sng"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b="1" lang="en-US"/>
              <a:t>Thuật toán Ray casting kiểm tra điểm M trong hoặc ngoài đa giác</a:t>
            </a:r>
            <a:endParaRPr b="1" sz="155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b="1" lang="en-US"/>
              <a:t>Tại điểm M vẽ tia cắt các cạnh của đa giác, nếu M không nằm trên biên của đa giác thì </a:t>
            </a:r>
            <a:endParaRPr b="1"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b="1" lang="en-US"/>
              <a:t>M nằm ngoài đa giác nếu </a:t>
            </a:r>
            <a:r>
              <a:rPr b="1" lang="en-US" u="sng"/>
              <a:t>tổng số điểm chẵn</a:t>
            </a:r>
            <a:endParaRPr b="1" u="sng"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b="1" lang="en-US"/>
              <a:t>M nằm trong đa giác nếu </a:t>
            </a:r>
            <a:r>
              <a:rPr b="1" lang="en-US" u="sng"/>
              <a:t>tổng số điểm lẻ</a:t>
            </a:r>
            <a:endParaRPr b="1" u="sng"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u="sng"/>
          </a:p>
        </p:txBody>
      </p:sp>
      <p:pic>
        <p:nvPicPr>
          <p:cNvPr id="167" name="Google Shape;16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6450" y="4400000"/>
            <a:ext cx="5791200" cy="24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type="title"/>
          </p:nvPr>
        </p:nvSpPr>
        <p:spPr>
          <a:xfrm>
            <a:off x="522825" y="327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Biểu diễn hình học số phức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Biểu diễn	 hình học của số phức</a:t>
            </a:r>
            <a:endParaRPr/>
          </a:p>
        </p:txBody>
      </p:sp>
      <p:sp>
        <p:nvSpPr>
          <p:cNvPr id="180" name="Google Shape;180;p22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S</a:t>
            </a:r>
            <a:r>
              <a:rPr lang="en-US"/>
              <a:t>ố phức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z được biểu diễn tương ứng một điểm trong không gian </a:t>
            </a:r>
            <a:r>
              <a:rPr lang="en-US"/>
              <a:t>Oxy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Số phức liên hợp với z có dạng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Khoảng cách từ o đến z là p: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p là modulo của z: 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id&quot;:&quot;1&quot;,&quot;backgroundColor&quot;:&quot;#ffffff&quot;,&quot;backgroundColorModified&quot;:false,&quot;code&quot;:&quot;$\\bar{z}=x-y.i$&quot;,&quot;type&quot;:&quot;$&quot;,&quot;aid&quot;:null,&quot;font&quot;:{&quot;family&quot;:&quot;Comfortaa&quot;,&quot;size&quot;:18,&quot;color&quot;:&quot;#000000&quot;},&quot;ts&quot;:1626596492057,&quot;cs&quot;:&quot;houtzwnhOr3+ZXsIe0ylyg==&quot;,&quot;size&quot;:{&quot;width&quot;:118.83333333333333,&quot;height&quot;:21}}" id="181" name="Google Shape;18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900" y="2913778"/>
            <a:ext cx="113188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aid&quot;:null,&quot;code&quot;:&quot;$z=x+y.i\\,,\\,i^{2}=-1.$&quot;,&quot;backgroundColorModified&quot;:false,&quot;type&quot;:&quot;$&quot;,&quot;id&quot;:&quot;1&quot;,&quot;font&quot;:{&quot;size&quot;:18,&quot;color&quot;:&quot;#000000&quot;,&quot;family&quot;:&quot;Comfortaa&quot;},&quot;ts&quot;:1626596447228,&quot;cs&quot;:&quot;hPVMFf7fAkqCaxwd6QBT7w==&quot;,&quot;size&quot;:{&quot;width&quot;:223.40000000000006,&quot;height&quot;:25.199999999999992}}" id="182" name="Google Shape;18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9475" y="2018943"/>
            <a:ext cx="2127885" cy="240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p^{2}=x^{2}+y^{2}=\\left(x+y.i\\right)\\left(x-y.i\\right)$&quot;,&quot;backgroundColorModified&quot;:null,&quot;id&quot;:&quot;2&quot;,&quot;type&quot;:&quot;$&quot;,&quot;backgroundColor&quot;:&quot;#ffffff&quot;,&quot;font&quot;:{&quot;size&quot;:18,&quot;family&quot;:&quot;Comfortaa&quot;,&quot;color&quot;:&quot;#000000&quot;},&quot;aid&quot;:null,&quot;ts&quot;:1626597204484,&quot;cs&quot;:&quot;YtMoQC5TrPvCBzZJmDq3ZQ==&quot;,&quot;size&quot;:{&quot;width&quot;:347.75,&quot;height&quot;:26.25}}" id="183" name="Google Shape;18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6175" y="3303988"/>
            <a:ext cx="3312319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3&quot;,&quot;code&quot;:&quot;$p={\\sqrt[]{x^{2}+y^{2}}}$&quot;,&quot;backgroundColor&quot;:&quot;#ffffff&quot;,&quot;backgroundColorModified&quot;:null,&quot;type&quot;:&quot;$&quot;,&quot;aid&quot;:null,&quot;font&quot;:{&quot;size&quot;:18,&quot;family&quot;:&quot;Comfortaa&quot;,&quot;color&quot;:&quot;#000000&quot;},&quot;ts&quot;:1626597474166,&quot;cs&quot;:&quot;TLtgdFMZB64pkGY67bM6QA==&quot;,&quot;size&quot;:{&quot;width&quot;:145,&quot;height&quot;:29.666666666666668}}" id="184" name="Google Shape;18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80475" y="3713125"/>
            <a:ext cx="1381125" cy="2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06650" y="4058550"/>
            <a:ext cx="5811850" cy="26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Biểu diễn hình học của số phức</a:t>
            </a:r>
            <a:endParaRPr/>
          </a:p>
        </p:txBody>
      </p:sp>
      <p:sp>
        <p:nvSpPr>
          <p:cNvPr id="192" name="Google Shape;192;p23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Tổng </a:t>
            </a:r>
            <a:r>
              <a:rPr lang="en-US"/>
              <a:t>hai số phức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Tổng hai số phức bởi hình học 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Biểu diễn số phức trên trục tọa độ oxy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Vẽ các đoạn thẳng tạo thành hình bình hành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Đường chéo hình bình hành chính là kết quả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type&quot;:&quot;$&quot;,&quot;id&quot;:&quot;1&quot;,&quot;font&quot;:{&quot;color&quot;:&quot;#000000&quot;,&quot;size&quot;:18,&quot;family&quot;:&quot;Comfortaa&quot;},&quot;backgroundColor&quot;:&quot;#ffffff&quot;,&quot;backgroundColorModified&quot;:false,&quot;aid&quot;:null,&quot;code&quot;:&quot;$z_{1}+z_{2}=\\left(x_{1}+y_{1}.i\\,\\right)+\\left(x_{2}+y_{2}.i\\right)=\\left(x_{1}+x_{2}\\right)+\\left(y_{1}+y_{2}\\right).i$&quot;,&quot;ts&quot;:1626618980389,&quot;cs&quot;:&quot;tvgZYx2pvqvFtU7Ih62PiA==&quot;,&quot;size&quot;:{&quot;width&quot;:633,&quot;height&quot;:24.5}}" id="193" name="Google Shape;19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6375" y="2406936"/>
            <a:ext cx="6029325" cy="233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6349" y="4607900"/>
            <a:ext cx="5812849" cy="21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Biểu diễn hình học của số phức</a:t>
            </a:r>
            <a:endParaRPr/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Module tổng của hai số phức không vượt </a:t>
            </a:r>
            <a:r>
              <a:rPr lang="en-US"/>
              <a:t>quá</a:t>
            </a:r>
            <a:r>
              <a:rPr lang="en-US"/>
              <a:t> tổng của hai module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id&quot;:&quot;1&quot;,&quot;font&quot;:{&quot;size&quot;:18,&quot;family&quot;:&quot;Comfortaa&quot;,&quot;color&quot;:&quot;#000000&quot;},&quot;code&quot;:&quot;$\\,\\left|z_{1}+z_{2}\\right|\\leqslant\\left|z_{1}\\right|+\\left|z_{2}\\right|$&quot;,&quot;aid&quot;:null,&quot;backgroundColor&quot;:&quot;#ffffff&quot;,&quot;type&quot;:&quot;$&quot;,&quot;backgroundColorModified&quot;:false,&quot;ts&quot;:1626600555175,&quot;cs&quot;:&quot;3vc25grniidSNwcCoj+WjQ==&quot;,&quot;size&quot;:{&quot;width&quot;:211.16666666666666,&quot;height&quot;:24.166666666666668}}" id="202" name="Google Shape;20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5385" y="2774768"/>
            <a:ext cx="2011363" cy="230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3825" y="3494675"/>
            <a:ext cx="6905400" cy="2413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Biểu diễn hình học của số phức</a:t>
            </a:r>
            <a:endParaRPr/>
          </a:p>
        </p:txBody>
      </p:sp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Bi</a:t>
            </a:r>
            <a:r>
              <a:rPr lang="en-US"/>
              <a:t>ểu diễn </a:t>
            </a:r>
            <a:r>
              <a:rPr lang="en-US"/>
              <a:t> số phức </a:t>
            </a:r>
            <a:r>
              <a:rPr lang="en-US"/>
              <a:t>theo lượng giác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font&quot;:{&quot;color&quot;:&quot;#000000&quot;,&quot;family&quot;:&quot;Comfortaa&quot;,&quot;size&quot;:18},&quot;id&quot;:&quot;1&quot;,&quot;code&quot;:&quot;\\begin{gather*}\n{z_{1}=\\left(x_{1}+y_{1}.i\\,\\right)\\,=\\,\\left|z_{1}\\right|\\left(Cos\\,\\theta_{1}+iSin\\theta_{1}\\right)}\\\\\n{z_{2}=\\left(x_{2}+y_{2}.i\\,\\right)\\,=\\,\\left|z_{2}\\right|\\left(Cos\\,\\theta_{2}+iSin\\theta_{2}\\right)}\t\n\\end{gather*}&quot;,&quot;type&quot;:&quot;gather*&quot;,&quot;aid&quot;:null,&quot;backgroundColor&quot;:&quot;#ffffff&quot;,&quot;backgroundColorModified&quot;:false,&quot;ts&quot;:1626601943343,&quot;cs&quot;:&quot;oEjIJzRedNk776TIHDJAGw==&quot;,&quot;size&quot;:{&quot;width&quot;:427.00000000000006,&quot;height&quot;:56}}" id="211" name="Google Shape;21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3418" y="2481443"/>
            <a:ext cx="40671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7775" y="3530950"/>
            <a:ext cx="6648450" cy="251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Biểu diễn hình học của số phức</a:t>
            </a:r>
            <a:endParaRPr/>
          </a:p>
        </p:txBody>
      </p:sp>
      <p:sp>
        <p:nvSpPr>
          <p:cNvPr id="219" name="Google Shape;219;p26"/>
          <p:cNvSpPr txBox="1"/>
          <p:nvPr>
            <p:ph idx="1" type="body"/>
          </p:nvPr>
        </p:nvSpPr>
        <p:spPr>
          <a:xfrm>
            <a:off x="377400" y="1690750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Tích hai số phức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Tích hai số phức là tích module và tổng hệ số gốc của chúng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font&quot;:{&quot;color&quot;:&quot;#000000&quot;,&quot;family&quot;:&quot;Comfortaa&quot;,&quot;size&quot;:18},&quot;id&quot;:&quot;1&quot;,&quot;code&quot;:&quot;\\begin{gather*}\n{z_{1}=\\left(x_{1}+y_{1}.i\\,\\right)\\,=\\,\\left|z_{1}\\right|\\left(Cos\\,\\theta_{1}+iSin\\theta_{1}\\right)}\\\\\n{z_{2}=\\left(x_{2}+y_{2}.i\\,\\right)\\,=\\,\\left|z_{2}\\right|\\left(Cos\\,\\theta_{2}+iSin\\theta_{2}\\right)}\t\n\\end{gather*}&quot;,&quot;type&quot;:&quot;gather*&quot;,&quot;aid&quot;:null,&quot;backgroundColor&quot;:&quot;#ffffff&quot;,&quot;backgroundColorModified&quot;:false,&quot;ts&quot;:1626601943343,&quot;cs&quot;:&quot;oEjIJzRedNk776TIHDJAGw==&quot;,&quot;size&quot;:{&quot;width&quot;:427.00000000000006,&quot;height&quot;:56}}" id="220" name="Google Shape;2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8493" y="1881680"/>
            <a:ext cx="40671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gather*&quot;,&quot;id&quot;:&quot;4&quot;,&quot;code&quot;:&quot;\\begin{gather*}\n{z_{1}z_{2}=\\left(x_{1}x_{2}-y_{1}y_{2}\\right)+\\left(x_{1}y_{2}+x_{2}y_{1}\\right)i}\\\\\n{=\\left|z_{1}\\right|\\left|z_{2}\\right|\\left[\\left(\\cos\\theta_{1}\\cos\\theta_{2}-sin\\theta_{1}sin\\theta_{2}\\right)+i\\left(\\cos\\theta_{1}sin\\theta_{2}+cos\\theta_{2}sin\\theta_{1}\\right)\\right]}\\\\\n{=\\left|z_{1}\\right|\\left|z_{2}\\right|\\left[\\left(\\cos\\left(\\theta_{1}+\\theta_{2}\\right)\\right)+i\\sin\\left(\\theta_{1}+\\theta_{2}\\right)\\right]}\t\n\\end{gather*}&quot;,&quot;backgroundColorModified&quot;:false,&quot;backgroundColor&quot;:&quot;#ffffff&quot;,&quot;font&quot;:{&quot;size&quot;:20,&quot;family&quot;:&quot;Comfortaa&quot;,&quot;color&quot;:&quot;#000000&quot;},&quot;ts&quot;:1663340691901,&quot;cs&quot;:&quot;H39j9ZuVbm0mbuRcvSFOKA==&quot;,&quot;size&quot;:{&quot;width&quot;:772,&quot;height&quot;:97.5}}" id="221" name="Google Shape;22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0325" y="2917980"/>
            <a:ext cx="7353300" cy="928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3950" y="4359500"/>
            <a:ext cx="7417101" cy="237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Biểu diễn hình học của số phức</a:t>
            </a:r>
            <a:endParaRPr/>
          </a:p>
        </p:txBody>
      </p:sp>
      <p:sp>
        <p:nvSpPr>
          <p:cNvPr id="229" name="Google Shape;229;p27"/>
          <p:cNvSpPr txBox="1"/>
          <p:nvPr>
            <p:ph idx="1" type="body"/>
          </p:nvPr>
        </p:nvSpPr>
        <p:spPr>
          <a:xfrm>
            <a:off x="377400" y="1690750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</a:t>
            </a:r>
            <a:r>
              <a:rPr lang="en-US"/>
              <a:t>ích của hai số phức cho một số tính chất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 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Nếu </a:t>
            </a:r>
            <a:r>
              <a:rPr lang="en-US"/>
              <a:t>modun</a:t>
            </a:r>
            <a:r>
              <a:rPr lang="en-US"/>
              <a:t> z bằng 1, thì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Tích hai số phức là tích module và tổng hệ số gốc của chúng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2225" y="3697875"/>
            <a:ext cx="7417101" cy="237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5&quot;,&quot;aid&quot;:null,&quot;font&quot;:{&quot;family&quot;:&quot;Comfortaa&quot;,&quot;color&quot;:&quot;#000000&quot;,&quot;size&quot;:18},&quot;code&quot;:&quot;$z_{}^{n}=\\left|z\\right|^{n}\\left(\\cos n\\theta+i\\sin n\\theta\\right)$&quot;,&quot;backgroundColor&quot;:&quot;#ffffff&quot;,&quot;type&quot;:&quot;$&quot;,&quot;backgroundColorModified&quot;:null,&quot;ts&quot;:1626604730745,&quot;cs&quot;:&quot;J/X3FXUKLwX0yclurFrBXA==&quot;,&quot;size&quot;:{&quot;width&quot;:271.75,&quot;height&quot;:25.25}}" id="231" name="Google Shape;23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0338" y="2271150"/>
            <a:ext cx="2588419" cy="2405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type&quot;:&quot;$&quot;,&quot;aid&quot;:null,&quot;backgroundColorModified&quot;:false,&quot;id&quot;:&quot;5&quot;,&quot;font&quot;:{&quot;color&quot;:&quot;#000000&quot;,&quot;family&quot;:&quot;Comfortaa&quot;,&quot;size&quot;:18},&quot;code&quot;:&quot;$\\left(z\\right)_{}^{n}=\\left(\\cos\\theta+i\\sin\\theta\\right)^{n}=\\left(\\cos n\\theta+i\\sin n\\theta\\right)$&quot;,&quot;ts&quot;:1626604907078,&quot;cs&quot;:&quot;Dclb8B0uF9KNdHgex8hYtw==&quot;,&quot;size&quot;:{&quot;width&quot;:451.3333333333333,&quot;height&quot;:25.333333333333332}}" id="232" name="Google Shape;23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0938" y="2776534"/>
            <a:ext cx="4298950" cy="24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/>
          <p:nvPr>
            <p:ph type="title"/>
          </p:nvPr>
        </p:nvSpPr>
        <p:spPr>
          <a:xfrm>
            <a:off x="522825" y="327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Hàm khoảng cách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(Distance Function)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Khoảng cách Euclidean</a:t>
            </a:r>
            <a:endParaRPr/>
          </a:p>
        </p:txBody>
      </p:sp>
      <p:sp>
        <p:nvSpPr>
          <p:cNvPr id="245" name="Google Shape;245;p29"/>
          <p:cNvSpPr txBox="1"/>
          <p:nvPr>
            <p:ph idx="1" type="body"/>
          </p:nvPr>
        </p:nvSpPr>
        <p:spPr>
          <a:xfrm>
            <a:off x="425200" y="1821425"/>
            <a:ext cx="8389200" cy="159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Cho hai điểm A và B trong không gian 2D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 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Trực quan</a:t>
            </a:r>
            <a:endParaRPr/>
          </a:p>
        </p:txBody>
      </p:sp>
      <p:pic>
        <p:nvPicPr>
          <p:cNvPr descr="{&quot;backgroundColor&quot;:&quot;#ffffff&quot;,&quot;font&quot;:{&quot;family&quot;:&quot;Comfortaa&quot;,&quot;size&quot;:18,&quot;color&quot;:&quot;#000000&quot;},&quot;code&quot;:&quot;$${\\sqrt[]{\\left(x_{B}-x_{A}\\right)^{2}+\\left(y_{B}-y_{A}\\right)^{2}}}$$&quot;,&quot;id&quot;:&quot;22&quot;,&quot;type&quot;:&quot;$$&quot;,&quot;backgroundColorModified&quot;:null,&quot;aid&quot;:null,&quot;ts&quot;:1630370768306,&quot;cs&quot;:&quot;sBxKAuO0Vw+Su7Au7WkcmQ==&quot;,&quot;size&quot;:{&quot;width&quot;:277.5,&quot;height&quot;:43.75}}" id="246" name="Google Shape;24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250" y="2766150"/>
            <a:ext cx="2643188" cy="4167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7" name="Google Shape;247;p29"/>
          <p:cNvCxnSpPr/>
          <p:nvPr/>
        </p:nvCxnSpPr>
        <p:spPr>
          <a:xfrm flipH="1" rot="10800000">
            <a:off x="2750575" y="3827075"/>
            <a:ext cx="2405100" cy="101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248" name="Google Shape;248;p29"/>
          <p:cNvSpPr txBox="1"/>
          <p:nvPr/>
        </p:nvSpPr>
        <p:spPr>
          <a:xfrm>
            <a:off x="2495575" y="4702300"/>
            <a:ext cx="25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SemiBold"/>
                <a:ea typeface="Comfortaa SemiBold"/>
                <a:cs typeface="Comfortaa SemiBold"/>
                <a:sym typeface="Comfortaa SemiBold"/>
              </a:rPr>
              <a:t>A</a:t>
            </a:r>
            <a:endParaRPr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sp>
        <p:nvSpPr>
          <p:cNvPr id="249" name="Google Shape;249;p29"/>
          <p:cNvSpPr txBox="1"/>
          <p:nvPr/>
        </p:nvSpPr>
        <p:spPr>
          <a:xfrm>
            <a:off x="4848975" y="3461575"/>
            <a:ext cx="25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SemiBold"/>
                <a:ea typeface="Comfortaa SemiBold"/>
                <a:cs typeface="Comfortaa SemiBold"/>
                <a:sym typeface="Comfortaa SemiBold"/>
              </a:rPr>
              <a:t>B</a:t>
            </a:r>
            <a:endParaRPr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0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Khoảng cách </a:t>
            </a:r>
            <a:r>
              <a:rPr lang="en-US"/>
              <a:t>Manhattan</a:t>
            </a:r>
            <a:endParaRPr/>
          </a:p>
        </p:txBody>
      </p:sp>
      <p:sp>
        <p:nvSpPr>
          <p:cNvPr id="256" name="Google Shape;256;p30"/>
          <p:cNvSpPr txBox="1"/>
          <p:nvPr>
            <p:ph idx="1" type="body"/>
          </p:nvPr>
        </p:nvSpPr>
        <p:spPr>
          <a:xfrm>
            <a:off x="425200" y="1821425"/>
            <a:ext cx="8389200" cy="159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Cho hai điểm A và B trong không gian 2D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 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Trực quan</a:t>
            </a:r>
            <a:endParaRPr/>
          </a:p>
        </p:txBody>
      </p:sp>
      <p:pic>
        <p:nvPicPr>
          <p:cNvPr descr="{&quot;aid&quot;:null,&quot;type&quot;:&quot;$$&quot;,&quot;id&quot;:&quot;22&quot;,&quot;code&quot;:&quot;$$\\left|x_{B}-x_{A}\\right|+\\left|y_{B}-y_{A}\\right|$$&quot;,&quot;backgroundColor&quot;:&quot;#ffffff&quot;,&quot;backgroundColorModified&quot;:false,&quot;font&quot;:{&quot;color&quot;:&quot;#000000&quot;,&quot;family&quot;:&quot;Comfortaa&quot;,&quot;size&quot;:18},&quot;ts&quot;:1630371042510,&quot;cs&quot;:&quot;UBnapk5dPLWjksWn0i97Zg==&quot;,&quot;size&quot;:{&quot;width&quot;:219.20000000000002,&quot;height&quot;:24.399999999999988}}" id="257" name="Google Shape;25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250" y="2827398"/>
            <a:ext cx="2087880" cy="2324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" name="Google Shape;258;p30"/>
          <p:cNvCxnSpPr/>
          <p:nvPr/>
        </p:nvCxnSpPr>
        <p:spPr>
          <a:xfrm flipH="1" rot="10800000">
            <a:off x="3014125" y="4175325"/>
            <a:ext cx="67800" cy="126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259" name="Google Shape;259;p30"/>
          <p:cNvSpPr txBox="1"/>
          <p:nvPr/>
        </p:nvSpPr>
        <p:spPr>
          <a:xfrm>
            <a:off x="2708050" y="5271650"/>
            <a:ext cx="25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SemiBold"/>
                <a:ea typeface="Comfortaa SemiBold"/>
                <a:cs typeface="Comfortaa SemiBold"/>
                <a:sym typeface="Comfortaa SemiBold"/>
              </a:rPr>
              <a:t>A</a:t>
            </a:r>
            <a:endParaRPr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sp>
        <p:nvSpPr>
          <p:cNvPr id="260" name="Google Shape;260;p30"/>
          <p:cNvSpPr txBox="1"/>
          <p:nvPr/>
        </p:nvSpPr>
        <p:spPr>
          <a:xfrm>
            <a:off x="5384900" y="3962975"/>
            <a:ext cx="11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SemiBold"/>
                <a:ea typeface="Comfortaa SemiBold"/>
                <a:cs typeface="Comfortaa SemiBold"/>
                <a:sym typeface="Comfortaa SemiBold"/>
              </a:rPr>
              <a:t>B</a:t>
            </a:r>
            <a:endParaRPr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cxnSp>
        <p:nvCxnSpPr>
          <p:cNvPr id="261" name="Google Shape;261;p30"/>
          <p:cNvCxnSpPr/>
          <p:nvPr/>
        </p:nvCxnSpPr>
        <p:spPr>
          <a:xfrm>
            <a:off x="3082100" y="4149925"/>
            <a:ext cx="2302800" cy="3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diamon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/>
          <p:nvPr>
            <p:ph type="title"/>
          </p:nvPr>
        </p:nvSpPr>
        <p:spPr>
          <a:xfrm>
            <a:off x="522825" y="327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toán cặp điểm gần nhất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(Closest pair problem)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toán</a:t>
            </a:r>
            <a:endParaRPr/>
          </a:p>
        </p:txBody>
      </p:sp>
      <p:sp>
        <p:nvSpPr>
          <p:cNvPr id="274" name="Google Shape;274;p32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Cho n điểm trong không gian 2D, mỗi điểm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Vấn đề: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Khoảng cách Euclidean: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  </a:t>
            </a:r>
            <a:endParaRPr/>
          </a:p>
        </p:txBody>
      </p:sp>
      <p:pic>
        <p:nvPicPr>
          <p:cNvPr descr="{&quot;aid&quot;:null,&quot;code&quot;:&quot;$$p_{i}=\\left(x_{i},y_{i}\\right)$$&quot;,&quot;font&quot;:{&quot;family&quot;:&quot;Comfortaa&quot;,&quot;color&quot;:&quot;#000000&quot;,&quot;size&quot;:18},&quot;backgroundColor&quot;:&quot;#ffffff&quot;,&quot;backgroundColorModified&quot;:null,&quot;id&quot;:&quot;23&quot;,&quot;type&quot;:&quot;$$&quot;,&quot;ts&quot;:1630382619404,&quot;cs&quot;:&quot;UKhgX+0d1TVMhywp8qglDg==&quot;,&quot;size&quot;:{&quot;width&quot;:119.83333333333333,&quot;height&quot;:24.333333333333332}}" id="275" name="Google Shape;27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650" y="2001325"/>
            <a:ext cx="1141413" cy="23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$$&quot;,&quot;id&quot;:&quot;24&quot;,&quot;code&quot;:&quot;$$\\min_{i,j}\\left\\{\\rho\\left(p_{i},p_{j}\\right)\\right\\}$$&quot;,&quot;backgroundColor&quot;:&quot;#ffffff&quot;,&quot;font&quot;:{&quot;color&quot;:&quot;#000000&quot;,&quot;size&quot;:18,&quot;family&quot;:&quot;Comfortaa&quot;},&quot;aid&quot;:null,&quot;ts&quot;:1630402858722,&quot;cs&quot;:&quot;mOuyGXf3NNz5jZd0XhB23A==&quot;,&quot;size&quot;:{&quot;width&quot;:144.83333333333334,&quot;height&quot;:37}}" id="276" name="Google Shape;27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2825" y="2433119"/>
            <a:ext cx="1379538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id&quot;:&quot;22&quot;,&quot;type&quot;:&quot;$$&quot;,&quot;font&quot;:{&quot;family&quot;:&quot;Comfortaa&quot;,&quot;size&quot;:18,&quot;color&quot;:&quot;#000000&quot;},&quot;backgroundColorModified&quot;:false,&quot;code&quot;:&quot;$$\\rho\\left(p_{i},p_{j}\\right)={\\sqrt[]{\\left(x_{i}-x_{j}\\right)^{2}+\\left(y_{i}-y_{j}\\right)^{2}}}$$&quot;,&quot;backgroundColor&quot;:&quot;#ffffff&quot;,&quot;ts&quot;:1630396591157,&quot;cs&quot;:&quot;wrnNi6DNzibKL4Y1/G6EWQ==&quot;,&quot;size&quot;:{&quot;width&quot;:368.6666666666667,&quot;height&quot;:43.666666666666664}}" id="277" name="Google Shape;27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1325" y="3293873"/>
            <a:ext cx="3511550" cy="4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62225" y="4225025"/>
            <a:ext cx="4198050" cy="243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Mục tiêu</a:t>
            </a:r>
            <a:endParaRPr/>
          </a:p>
        </p:txBody>
      </p:sp>
      <p:sp>
        <p:nvSpPr>
          <p:cNvPr id="285" name="Google Shape;285;p33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Brute giải bài toán với  độ phức tạp: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Vấn đề </a:t>
            </a:r>
            <a:r>
              <a:rPr lang="en-US"/>
              <a:t>có cách nào nhanh hơn không? Không sử dụng so sánh cặp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Chúng ta có thể giải bài toán với độ phức tạp: 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Cách tiếp cận hợp lý là gì ?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  </a:t>
            </a:r>
            <a:endParaRPr/>
          </a:p>
        </p:txBody>
      </p:sp>
      <p:pic>
        <p:nvPicPr>
          <p:cNvPr descr="{&quot;font&quot;:{&quot;color&quot;:&quot;#000000&quot;,&quot;family&quot;:&quot;Comfortaa&quot;,&quot;size&quot;:18},&quot;backgroundColorModified&quot;:false,&quot;id&quot;:&quot;23&quot;,&quot;backgroundColor&quot;:&quot;#ffffff&quot;,&quot;code&quot;:&quot;$$O\\left(n^{2}\\right)$$&quot;,&quot;aid&quot;:null,&quot;type&quot;:&quot;$$&quot;,&quot;ts&quot;:1630396924720,&quot;cs&quot;:&quot;pMOKkosKCB57H50S9+EK2Q==&quot;,&quot;size&quot;:{&quot;width&quot;:60.166666666666664,&quot;height&quot;:30}}" id="286" name="Google Shape;28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6163" y="1984325"/>
            <a:ext cx="573088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O\\left(n\\log_{}\\left(n\\right)\\right)$$&quot;,&quot;backgroundColor&quot;:&quot;#ffffff&quot;,&quot;aid&quot;:null,&quot;font&quot;:{&quot;color&quot;:&quot;#000000&quot;,&quot;family&quot;:&quot;Comfortaa&quot;,&quot;size&quot;:18},&quot;id&quot;:&quot;23&quot;,&quot;type&quot;:&quot;$$&quot;,&quot;backgroundColorModified&quot;:false,&quot;ts&quot;:1630397217668,&quot;cs&quot;:&quot;kPs92dxXetdlIo3ZwLPKHw==&quot;,&quot;size&quot;:{&quot;width&quot;:122.5,&quot;height&quot;:24.333333333333332}}" id="287" name="Google Shape;28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2338" y="4236131"/>
            <a:ext cx="1166813" cy="23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Thuật toán (Divide and Conquer)</a:t>
            </a:r>
            <a:endParaRPr/>
          </a:p>
        </p:txBody>
      </p:sp>
      <p:sp>
        <p:nvSpPr>
          <p:cNvPr id="294" name="Google Shape;294;p34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●"/>
            </a:pPr>
            <a:r>
              <a:rPr lang="en-US"/>
              <a:t>Sắp xếp các điểm dọc theo tọa độ x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●"/>
            </a:pPr>
            <a:r>
              <a:rPr lang="en-US"/>
              <a:t>Chia tập hợp điểm thành 2 tập con có kích thước gần bằng nhau theo đường thẳng x = L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5" name="Google Shape;29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6375" y="3461575"/>
            <a:ext cx="5429250" cy="321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5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Thuật toán( 2)</a:t>
            </a:r>
            <a:endParaRPr/>
          </a:p>
        </p:txBody>
      </p:sp>
      <p:sp>
        <p:nvSpPr>
          <p:cNvPr id="302" name="Google Shape;302;p35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Giải bài toán bằng đệ quy trong tập con trái và tập con phải </a:t>
            </a:r>
            <a:endParaRPr/>
          </a:p>
        </p:txBody>
      </p:sp>
      <p:pic>
        <p:nvPicPr>
          <p:cNvPr id="303" name="Google Shape;30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000" y="2484300"/>
            <a:ext cx="7507150" cy="415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6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Thuật toán (3)</a:t>
            </a:r>
            <a:endParaRPr/>
          </a:p>
        </p:txBody>
      </p:sp>
      <p:sp>
        <p:nvSpPr>
          <p:cNvPr id="310" name="Google Shape;310;p36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Xây dựng miền S là tập hợp các điểm lân cận L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Tìm khoảng cách tối thiểu      trong miền S ( một điểm nằm bên trái và một điểm nằm bên phải L)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Câu </a:t>
            </a:r>
            <a:r>
              <a:rPr lang="en-US"/>
              <a:t>trả</a:t>
            </a:r>
            <a:r>
              <a:rPr lang="en-US"/>
              <a:t> lời </a:t>
            </a:r>
            <a:endParaRPr/>
          </a:p>
        </p:txBody>
      </p:sp>
      <p:pic>
        <p:nvPicPr>
          <p:cNvPr id="311" name="Google Shape;31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1900" y="3300125"/>
            <a:ext cx="4629150" cy="279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Comfortaa&quot;,&quot;size&quot;:18,&quot;color&quot;:&quot;#000000&quot;},&quot;id&quot;:&quot;25&quot;,&quot;code&quot;:&quot;$$d_{S}$$&quot;,&quot;aid&quot;:null,&quot;backgroundColor&quot;:&quot;#ffffff&quot;,&quot;type&quot;:&quot;$$&quot;,&quot;backgroundColorModified&quot;:null,&quot;ts&quot;:1630402394102,&quot;cs&quot;:&quot;6ZGPS7v4I1Ruow3NiVCVAA==&quot;,&quot;size&quot;:{&quot;width&quot;:23,&quot;height&quot;:21}}" id="312" name="Google Shape;31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7075" y="243470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size&quot;:18,&quot;family&quot;:&quot;Comfortaa&quot;},&quot;type&quot;:&quot;$$&quot;,&quot;code&quot;:&quot;$$d\\,:=\\,\\min \\,\\left\\{d,\\,d_{S}\\right\\}$$&quot;,&quot;backgroundColorModified&quot;:false,&quot;id&quot;:&quot;24&quot;,&quot;backgroundColor&quot;:&quot;#ffffff&quot;,&quot;aid&quot;:null,&quot;ts&quot;:1630402815636,&quot;cs&quot;:&quot;ahopgs+a5a8XY33X3fPT2g==&quot;,&quot;size&quot;:{&quot;width&quot;:187.66666666666666,&quot;height&quot;:24.33333333333341}}" id="313" name="Google Shape;313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47475" y="6310255"/>
            <a:ext cx="1787525" cy="23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7"/>
          <p:cNvSpPr txBox="1"/>
          <p:nvPr>
            <p:ph type="title"/>
          </p:nvPr>
        </p:nvSpPr>
        <p:spPr>
          <a:xfrm>
            <a:off x="522825" y="327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Bao lồi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(C</a:t>
            </a:r>
            <a:r>
              <a:rPr lang="en-US"/>
              <a:t>onvex hull</a:t>
            </a:r>
            <a:r>
              <a:rPr lang="en-US"/>
              <a:t>)</a:t>
            </a:r>
            <a:endParaRPr/>
          </a:p>
        </p:txBody>
      </p:sp>
      <p:pic>
        <p:nvPicPr>
          <p:cNvPr id="320" name="Google Shape;32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675" y="3754950"/>
            <a:ext cx="2089294" cy="297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1194" y="3698675"/>
            <a:ext cx="2178371" cy="297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8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Bao lồi(1)</a:t>
            </a:r>
            <a:endParaRPr/>
          </a:p>
        </p:txBody>
      </p:sp>
      <p:sp>
        <p:nvSpPr>
          <p:cNvPr id="328" name="Google Shape;328;p38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Tập lồi: 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Bao lồi:  tập lồi nhỏ nhất chứa tất cả các điểm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type&quot;:&quot;$$&quot;,&quot;id&quot;:&quot;26&quot;,&quot;font&quot;:{&quot;size&quot;:18,&quot;color&quot;:&quot;#000000&quot;,&quot;family&quot;:&quot;Comfortaa&quot;},&quot;code&quot;:&quot;$$\\forall a,\\,b\\,\\in\\,S,\\,then\\,\\left[a,b\\right]\\in S$$&quot;,&quot;backgroundColor&quot;:&quot;#ffffff&quot;,&quot;backgroundColorModified&quot;:null,&quot;aid&quot;:null,&quot;ts&quot;:1630408742888,&quot;cs&quot;:&quot;u/SX59Oop1ihNG4ThLVs7A==&quot;,&quot;size&quot;:{&quot;width&quot;:266,&quot;height&quot;:24.399999999999988}}" id="329" name="Google Shape;32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5875" y="2012350"/>
            <a:ext cx="2533650" cy="232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2575" y="3000275"/>
            <a:ext cx="7738475" cy="312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9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Bao lồi (2)</a:t>
            </a:r>
            <a:endParaRPr/>
          </a:p>
        </p:txBody>
      </p:sp>
      <p:sp>
        <p:nvSpPr>
          <p:cNvPr id="337" name="Google Shape;337;p39"/>
          <p:cNvSpPr txBox="1"/>
          <p:nvPr>
            <p:ph idx="1" type="body"/>
          </p:nvPr>
        </p:nvSpPr>
        <p:spPr>
          <a:xfrm>
            <a:off x="425200" y="1821425"/>
            <a:ext cx="8389200" cy="371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Cho 3 điểm  p, q và r trong không gian 2D: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Nếu D &gt; 0, thì điểm r nằm trái [p,q]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Nếu D &lt; 0, thì điểm r nằm phải [p, q ]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font&quot;:{&quot;size&quot;:18,&quot;color&quot;:&quot;#000000&quot;,&quot;family&quot;:&quot;Comfortaa&quot;},&quot;backgroundColorModified&quot;:null,&quot;aid&quot;:null,&quot;backgroundColor&quot;:&quot;#ffffff&quot;,&quot;id&quot;:&quot;27&quot;,&quot;code&quot;:&quot;$$p=\\left(p_{x},\\,p_{y}\\right),\\,q\\,=\\,\\left(q_{x},\\,q_{y}\\right),\\,r\\,=\\,\\left(r_{x},\\,r_{y}\\right)$$&quot;,&quot;type&quot;:&quot;$$&quot;,&quot;ts&quot;:1630409375574,&quot;cs&quot;:&quot;XhATj25DnNGMKhH+c9TNJA==&quot;,&quot;size&quot;:{&quot;width&quot;:406.6666666666667,&quot;height&quot;:25.333333333333332}}" id="338" name="Google Shape;3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6475" y="2575250"/>
            <a:ext cx="38735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Comfortaa&quot;,&quot;color&quot;:&quot;#000000&quot;,&quot;size&quot;:18},&quot;id&quot;:&quot;28&quot;,&quot;backgroundColor&quot;:&quot;#ffffff&quot;,&quot;code&quot;:&quot;$$D=\\begin{vmatrix}\n{1}&amp;{p_{x}}&amp;{p_{y}}\\\\\n{1}&amp;{q_{x}}&amp;{q_{y}}\\\\\n{1}&amp;{r_{x}}&amp;{r_{y}}\\\\\n\\end{vmatrix}$$&quot;,&quot;aid&quot;:null,&quot;backgroundColorModified&quot;:null,&quot;type&quot;:&quot;$$&quot;,&quot;ts&quot;:1630409470632,&quot;cs&quot;:&quot;XphNIiyJWj349h7Eg9BeFQ==&quot;,&quot;size&quot;:{&quot;width&quot;:170.83333333333334,&quot;height&quot;:96}}" id="339" name="Google Shape;33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2775" y="3185075"/>
            <a:ext cx="1627188" cy="91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0" name="Google Shape;340;p39"/>
          <p:cNvCxnSpPr/>
          <p:nvPr/>
        </p:nvCxnSpPr>
        <p:spPr>
          <a:xfrm>
            <a:off x="1150825" y="6392050"/>
            <a:ext cx="27582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341" name="Google Shape;341;p39"/>
          <p:cNvSpPr txBox="1"/>
          <p:nvPr/>
        </p:nvSpPr>
        <p:spPr>
          <a:xfrm>
            <a:off x="831850" y="6138750"/>
            <a:ext cx="36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SemiBold"/>
                <a:ea typeface="Comfortaa SemiBold"/>
                <a:cs typeface="Comfortaa SemiBold"/>
                <a:sym typeface="Comfortaa SemiBold"/>
              </a:rPr>
              <a:t>p</a:t>
            </a:r>
            <a:endParaRPr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sp>
        <p:nvSpPr>
          <p:cNvPr id="342" name="Google Shape;342;p39"/>
          <p:cNvSpPr txBox="1"/>
          <p:nvPr/>
        </p:nvSpPr>
        <p:spPr>
          <a:xfrm>
            <a:off x="3986400" y="6196600"/>
            <a:ext cx="36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SemiBold"/>
                <a:ea typeface="Comfortaa SemiBold"/>
                <a:cs typeface="Comfortaa SemiBold"/>
                <a:sym typeface="Comfortaa SemiBold"/>
              </a:rPr>
              <a:t>q</a:t>
            </a:r>
            <a:endParaRPr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cxnSp>
        <p:nvCxnSpPr>
          <p:cNvPr id="343" name="Google Shape;343;p39"/>
          <p:cNvCxnSpPr/>
          <p:nvPr/>
        </p:nvCxnSpPr>
        <p:spPr>
          <a:xfrm>
            <a:off x="2567450" y="5904200"/>
            <a:ext cx="46800" cy="4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none"/>
          </a:ln>
        </p:spPr>
      </p:cxnSp>
      <p:sp>
        <p:nvSpPr>
          <p:cNvPr id="344" name="Google Shape;344;p39"/>
          <p:cNvSpPr txBox="1"/>
          <p:nvPr/>
        </p:nvSpPr>
        <p:spPr>
          <a:xfrm>
            <a:off x="2076475" y="5669100"/>
            <a:ext cx="36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SemiBold"/>
                <a:ea typeface="Comfortaa SemiBold"/>
                <a:cs typeface="Comfortaa SemiBold"/>
                <a:sym typeface="Comfortaa SemiBold"/>
              </a:rPr>
              <a:t>r</a:t>
            </a:r>
            <a:endParaRPr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cxnSp>
        <p:nvCxnSpPr>
          <p:cNvPr id="345" name="Google Shape;345;p39"/>
          <p:cNvCxnSpPr/>
          <p:nvPr/>
        </p:nvCxnSpPr>
        <p:spPr>
          <a:xfrm>
            <a:off x="5252926" y="5716663"/>
            <a:ext cx="27582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346" name="Google Shape;346;p39"/>
          <p:cNvSpPr txBox="1"/>
          <p:nvPr/>
        </p:nvSpPr>
        <p:spPr>
          <a:xfrm>
            <a:off x="4980851" y="5796400"/>
            <a:ext cx="36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SemiBold"/>
                <a:ea typeface="Comfortaa SemiBold"/>
                <a:cs typeface="Comfortaa SemiBold"/>
                <a:sym typeface="Comfortaa SemiBold"/>
              </a:rPr>
              <a:t>p</a:t>
            </a:r>
            <a:endParaRPr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sp>
        <p:nvSpPr>
          <p:cNvPr id="347" name="Google Shape;347;p39"/>
          <p:cNvSpPr txBox="1"/>
          <p:nvPr/>
        </p:nvSpPr>
        <p:spPr>
          <a:xfrm>
            <a:off x="8011126" y="5849475"/>
            <a:ext cx="36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SemiBold"/>
                <a:ea typeface="Comfortaa SemiBold"/>
                <a:cs typeface="Comfortaa SemiBold"/>
                <a:sym typeface="Comfortaa SemiBold"/>
              </a:rPr>
              <a:t>q</a:t>
            </a:r>
            <a:endParaRPr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sp>
        <p:nvSpPr>
          <p:cNvPr id="348" name="Google Shape;348;p39"/>
          <p:cNvSpPr txBox="1"/>
          <p:nvPr/>
        </p:nvSpPr>
        <p:spPr>
          <a:xfrm>
            <a:off x="6957251" y="6174622"/>
            <a:ext cx="36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SemiBold"/>
                <a:ea typeface="Comfortaa SemiBold"/>
                <a:cs typeface="Comfortaa SemiBold"/>
                <a:sym typeface="Comfortaa SemiBold"/>
              </a:rPr>
              <a:t>r</a:t>
            </a:r>
            <a:endParaRPr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cxnSp>
        <p:nvCxnSpPr>
          <p:cNvPr id="349" name="Google Shape;349;p39"/>
          <p:cNvCxnSpPr/>
          <p:nvPr/>
        </p:nvCxnSpPr>
        <p:spPr>
          <a:xfrm flipH="1">
            <a:off x="6798450" y="6392050"/>
            <a:ext cx="189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0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Bao lồi (3)</a:t>
            </a:r>
            <a:endParaRPr/>
          </a:p>
        </p:txBody>
      </p:sp>
      <p:sp>
        <p:nvSpPr>
          <p:cNvPr id="356" name="Google Shape;356;p40"/>
          <p:cNvSpPr txBox="1"/>
          <p:nvPr>
            <p:ph idx="1" type="body"/>
          </p:nvPr>
        </p:nvSpPr>
        <p:spPr>
          <a:xfrm>
            <a:off x="425200" y="1821425"/>
            <a:ext cx="8389200" cy="105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Sắp xếp các điểm tăng dần theo thứ tự  </a:t>
            </a:r>
            <a:r>
              <a:rPr lang="en-US"/>
              <a:t>hoành độ</a:t>
            </a:r>
            <a:r>
              <a:rPr lang="en-US"/>
              <a:t> x ( </a:t>
            </a:r>
            <a:r>
              <a:rPr lang="en-US"/>
              <a:t>nếu hoành độ x bằng nhau thì ưu tiên tung độ độ y ) 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0"/>
          <p:cNvSpPr/>
          <p:nvPr/>
        </p:nvSpPr>
        <p:spPr>
          <a:xfrm>
            <a:off x="878750" y="3408675"/>
            <a:ext cx="3067800" cy="1688700"/>
          </a:xfrm>
          <a:custGeom>
            <a:rect b="b" l="l" r="r" t="t"/>
            <a:pathLst>
              <a:path extrusionOk="0" h="67548" w="122712">
                <a:moveTo>
                  <a:pt x="0" y="39403"/>
                </a:moveTo>
                <a:lnTo>
                  <a:pt x="31898" y="7505"/>
                </a:lnTo>
                <a:lnTo>
                  <a:pt x="74303" y="0"/>
                </a:lnTo>
                <a:lnTo>
                  <a:pt x="122712" y="15761"/>
                </a:lnTo>
                <a:lnTo>
                  <a:pt x="109953" y="52913"/>
                </a:lnTo>
                <a:lnTo>
                  <a:pt x="66422" y="67548"/>
                </a:lnTo>
                <a:lnTo>
                  <a:pt x="30772" y="61168"/>
                </a:ln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358" name="Google Shape;358;p40"/>
          <p:cNvCxnSpPr/>
          <p:nvPr/>
        </p:nvCxnSpPr>
        <p:spPr>
          <a:xfrm>
            <a:off x="1619900" y="3586925"/>
            <a:ext cx="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59" name="Google Shape;359;p40"/>
          <p:cNvCxnSpPr/>
          <p:nvPr/>
        </p:nvCxnSpPr>
        <p:spPr>
          <a:xfrm>
            <a:off x="878750" y="4396050"/>
            <a:ext cx="93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0" name="Google Shape;360;p40"/>
          <p:cNvCxnSpPr/>
          <p:nvPr/>
        </p:nvCxnSpPr>
        <p:spPr>
          <a:xfrm>
            <a:off x="2675232" y="3410237"/>
            <a:ext cx="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1" name="Google Shape;361;p40"/>
          <p:cNvCxnSpPr/>
          <p:nvPr/>
        </p:nvCxnSpPr>
        <p:spPr>
          <a:xfrm>
            <a:off x="3887750" y="3809600"/>
            <a:ext cx="93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2" name="Google Shape;362;p40"/>
          <p:cNvCxnSpPr/>
          <p:nvPr/>
        </p:nvCxnSpPr>
        <p:spPr>
          <a:xfrm>
            <a:off x="3599225" y="4740675"/>
            <a:ext cx="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3" name="Google Shape;363;p40"/>
          <p:cNvCxnSpPr/>
          <p:nvPr/>
        </p:nvCxnSpPr>
        <p:spPr>
          <a:xfrm>
            <a:off x="2497000" y="5097375"/>
            <a:ext cx="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4" name="Google Shape;364;p40"/>
          <p:cNvCxnSpPr/>
          <p:nvPr/>
        </p:nvCxnSpPr>
        <p:spPr>
          <a:xfrm>
            <a:off x="1619900" y="4923725"/>
            <a:ext cx="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5" name="Google Shape;365;p40"/>
          <p:cNvCxnSpPr/>
          <p:nvPr/>
        </p:nvCxnSpPr>
        <p:spPr>
          <a:xfrm>
            <a:off x="1561100" y="4128550"/>
            <a:ext cx="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6" name="Google Shape;366;p40"/>
          <p:cNvCxnSpPr/>
          <p:nvPr/>
        </p:nvCxnSpPr>
        <p:spPr>
          <a:xfrm>
            <a:off x="2044150" y="4592850"/>
            <a:ext cx="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7" name="Google Shape;367;p40"/>
          <p:cNvCxnSpPr/>
          <p:nvPr/>
        </p:nvCxnSpPr>
        <p:spPr>
          <a:xfrm>
            <a:off x="2205950" y="3947800"/>
            <a:ext cx="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8" name="Google Shape;368;p40"/>
          <p:cNvCxnSpPr/>
          <p:nvPr/>
        </p:nvCxnSpPr>
        <p:spPr>
          <a:xfrm>
            <a:off x="2832200" y="4592850"/>
            <a:ext cx="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9" name="Google Shape;369;p40"/>
          <p:cNvCxnSpPr/>
          <p:nvPr/>
        </p:nvCxnSpPr>
        <p:spPr>
          <a:xfrm>
            <a:off x="2497000" y="4128550"/>
            <a:ext cx="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pic>
        <p:nvPicPr>
          <p:cNvPr descr="{&quot;backgroundColorModified&quot;:null,&quot;aid&quot;:null,&quot;code&quot;:&quot;$$p_{1}$$&quot;,&quot;font&quot;:{&quot;color&quot;:&quot;#000000&quot;,&quot;family&quot;:&quot;Comfortaa&quot;,&quot;size&quot;:14},&quot;backgroundColor&quot;:&quot;#ffffff&quot;,&quot;type&quot;:&quot;$$&quot;,&quot;id&quot;:&quot;29&quot;,&quot;ts&quot;:1630413896259,&quot;cs&quot;:&quot;+dZzD5OmVgFwE0HazqSGIA==&quot;,&quot;size&quot;:{&quot;width&quot;:15.333333333333334,&quot;height&quot;:12.166666666666666}}" id="370" name="Google Shape;37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925" y="4338100"/>
            <a:ext cx="146050" cy="115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family&quot;:&quot;Comfortaa&quot;,&quot;color&quot;:&quot;#000000&quot;,&quot;size&quot;:14},&quot;id&quot;:&quot;29&quot;,&quot;backgroundColor&quot;:&quot;#ffffff&quot;,&quot;code&quot;:&quot;$$p_{2}$$&quot;,&quot;type&quot;:&quot;$$&quot;,&quot;backgroundColorModified&quot;:false,&quot;ts&quot;:1630414005100,&quot;cs&quot;:&quot;HdSQboiOi2VwrZEpBkoThw==&quot;,&quot;size&quot;:{&quot;width&quot;:15.5,&quot;height&quot;:12.166666666666666}}" id="371" name="Google Shape;37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3850" y="3371673"/>
            <a:ext cx="147638" cy="115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p_{3}$$&quot;,&quot;backgroundColorModified&quot;:false,&quot;id&quot;:&quot;29&quot;,&quot;backgroundColor&quot;:&quot;#ffffff&quot;,&quot;font&quot;:{&quot;size&quot;:14,&quot;color&quot;:&quot;#000000&quot;,&quot;family&quot;:&quot;Comfortaa&quot;},&quot;aid&quot;:null,&quot;type&quot;:&quot;$$&quot;,&quot;ts&quot;:1630414029494,&quot;cs&quot;:&quot;ISbGqE6sNq7z3HRpeRYunw==&quot;,&quot;size&quot;:{&quot;width&quot;:15.666666666666666,&quot;height&quot;:12.166666666666666}}" id="372" name="Google Shape;37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75225" y="3208733"/>
            <a:ext cx="149225" cy="115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p_{9}$$&quot;,&quot;backgroundColorModified&quot;:false,&quot;id&quot;:&quot;29&quot;,&quot;aid&quot;:null,&quot;font&quot;:{&quot;size&quot;:14,&quot;family&quot;:&quot;Comfortaa&quot;,&quot;color&quot;:&quot;#000000&quot;},&quot;type&quot;:&quot;$$&quot;,&quot;backgroundColor&quot;:&quot;#ffffff&quot;,&quot;ts&quot;:1630414090448,&quot;cs&quot;:&quot;16tO3chXFL6E4tDNyfpc0g==&quot;,&quot;size&quot;:{&quot;width&quot;:15.666666666666666,&quot;height&quot;:12.166666666666666}}" id="373" name="Google Shape;37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62875" y="3694939"/>
            <a:ext cx="149225" cy="115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$$&quot;,&quot;aid&quot;:null,&quot;code&quot;:&quot;$$p_{10}$$&quot;,&quot;font&quot;:{&quot;family&quot;:&quot;Comfortaa&quot;,&quot;color&quot;:&quot;#000000&quot;,&quot;size&quot;:14},&quot;id&quot;:&quot;29&quot;,&quot;backgroundColor&quot;:&quot;#ffffff&quot;,&quot;ts&quot;:1630414241208,&quot;cs&quot;:&quot;D+hSyEQpSUYBcm07YFKtCg==&quot;,&quot;size&quot;:{&quot;width&quot;:22.666666666666668,&quot;height&quot;:12.166666666666666}}" id="374" name="Google Shape;374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41700" y="4759421"/>
            <a:ext cx="215900" cy="115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29&quot;,&quot;type&quot;:&quot;$$&quot;,&quot;code&quot;:&quot;$$p_{11}$$&quot;,&quot;backgroundColorModified&quot;:false,&quot;font&quot;:{&quot;color&quot;:&quot;#000000&quot;,&quot;size&quot;:14,&quot;family&quot;:&quot;Comfortaa&quot;},&quot;backgroundColor&quot;:&quot;#ffffff&quot;,&quot;aid&quot;:null,&quot;ts&quot;:1630414263385,&quot;cs&quot;:&quot;Z7ORh3QkQAl1LRX63oC+RA==&quot;,&quot;size&quot;:{&quot;width&quot;:22.166666666666668,&quot;height&quot;:12.166666666666666}}" id="375" name="Google Shape;375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97000" y="5221138"/>
            <a:ext cx="211138" cy="115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p_{12}$$&quot;,&quot;id&quot;:&quot;29&quot;,&quot;font&quot;:{&quot;size&quot;:14,&quot;color&quot;:&quot;#000000&quot;,&quot;family&quot;:&quot;Comfortaa&quot;},&quot;backgroundColorModified&quot;:false,&quot;type&quot;:&quot;$$&quot;,&quot;aid&quot;:null,&quot;backgroundColor&quot;:&quot;#ffffff&quot;,&quot;ts&quot;:1630414288368,&quot;cs&quot;:&quot;QvNd+TfPI5YMz/Piex6YTw==&quot;,&quot;size&quot;:{&quot;width&quot;:22.5,&quot;height&quot;:12.166666666666666}}" id="376" name="Google Shape;376;p4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73850" y="5115831"/>
            <a:ext cx="214313" cy="115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backgroundColorModified&quot;:false,&quot;code&quot;:&quot;$$p_{5}$$&quot;,&quot;id&quot;:&quot;29&quot;,&quot;aid&quot;:null,&quot;font&quot;:{&quot;color&quot;:&quot;#000000&quot;,&quot;family&quot;:&quot;Comfortaa&quot;,&quot;size&quot;:14},&quot;backgroundColor&quot;:&quot;#ffffff&quot;,&quot;ts&quot;:1630414139161,&quot;cs&quot;:&quot;7LZXXC4VD/D0cZvLeeWdUg==&quot;,&quot;size&quot;:{&quot;width&quot;:15.5,&quot;height&quot;:12.166666666666666}}" id="377" name="Google Shape;377;p4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15050" y="4195698"/>
            <a:ext cx="147638" cy="115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font&quot;:{&quot;color&quot;:&quot;#000000&quot;,&quot;size&quot;:14,&quot;family&quot;:&quot;Comfortaa&quot;},&quot;aid&quot;:null,&quot;id&quot;:&quot;29&quot;,&quot;backgroundColor&quot;:&quot;#ffffff&quot;,&quot;type&quot;:&quot;$$&quot;,&quot;code&quot;:&quot;$$p_{4}$$&quot;,&quot;ts&quot;:1630414116361,&quot;cs&quot;:&quot;76DCW+lT381yXYi/912lWw==&quot;,&quot;size&quot;:{&quot;width&quot;:15.833333333333334,&quot;height&quot;:12.166666666666666}}" id="378" name="Google Shape;378;p4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975775" y="3811430"/>
            <a:ext cx="150813" cy="115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font&quot;:{&quot;color&quot;:&quot;#000000&quot;,&quot;family&quot;:&quot;Comfortaa&quot;,&quot;size&quot;:14},&quot;backgroundColorModified&quot;:false,&quot;id&quot;:&quot;29&quot;,&quot;aid&quot;:null,&quot;type&quot;:&quot;$$&quot;,&quot;code&quot;:&quot;$$p_{6}$$&quot;,&quot;ts&quot;:1630414165791,&quot;cs&quot;:&quot;3nBmo1dLnBNtr6zab41ReA==&quot;,&quot;size&quot;:{&quot;width&quot;:15.666666666666666,&quot;height&quot;:12.166666666666666}}" id="379" name="Google Shape;379;p4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829725" y="4594083"/>
            <a:ext cx="149225" cy="115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family&quot;:&quot;Comfortaa&quot;,&quot;size&quot;:14},&quot;code&quot;:&quot;$$p_{7}$$&quot;,&quot;type&quot;:&quot;$$&quot;,&quot;backgroundColor&quot;:&quot;#ffffff&quot;,&quot;backgroundColorModified&quot;:false,&quot;aid&quot;:null,&quot;id&quot;:&quot;29&quot;,&quot;ts&quot;:1630414193554,&quot;cs&quot;:&quot;juQuU2bsmdhS9yz6e1NwGQ==&quot;,&quot;size&quot;:{&quot;width&quot;:16,&quot;height&quot;:12.166666666666666}}" id="380" name="Google Shape;380;p4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606850" y="4595264"/>
            <a:ext cx="152400" cy="115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p_{8}$$&quot;,&quot;aid&quot;:null,&quot;font&quot;:{&quot;family&quot;:&quot;Comfortaa&quot;,&quot;color&quot;:&quot;#000000&quot;,&quot;size&quot;:14},&quot;type&quot;:&quot;$$&quot;,&quot;id&quot;:&quot;29&quot;,&quot;backgroundColorModified&quot;:false,&quot;backgroundColor&quot;:&quot;#ffffff&quot;,&quot;ts&quot;:1630414213293,&quot;cs&quot;:&quot;nZAIdPwOcd/TxDt2G0iuDQ==&quot;,&quot;size&quot;:{&quot;width&quot;:15.666666666666666,&quot;height&quot;:12.166666666666666}}" id="381" name="Google Shape;381;p4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675225" y="4071833"/>
            <a:ext cx="149225" cy="115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lalign*&quot;,&quot;id&quot;:&quot;30&quot;,&quot;backgroundColorModified&quot;:false,&quot;code&quot;:&quot;\\begin{lalign*}\n&amp;{L_{upper}=\\left\\{p_{1},p_{2},\\,p_{3},p_{9}\\right\\}}\\\\\n&amp;{L_{lower}=\\left\\{p_{9},p_{10},\\,p_{11},p_{12},p_{1}\\right\\}}\t\n\\end{lalign*}&quot;,&quot;font&quot;:{&quot;family&quot;:&quot;Arial&quot;,&quot;color&quot;:&quot;#000000&quot;,&quot;size&quot;:12},&quot;aid&quot;:null,&quot;backgroundColor&quot;:&quot;#ffffff&quot;,&quot;ts&quot;:1630414820307,&quot;cs&quot;:&quot;2Mepr5CPb7jSmVX27MKE0A==&quot;,&quot;size&quot;:{&quot;width&quot;:229.20000000000005,&quot;height&quot;:44}}" id="382" name="Google Shape;382;p4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847000" y="3057135"/>
            <a:ext cx="218313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40"/>
          <p:cNvCxnSpPr/>
          <p:nvPr/>
        </p:nvCxnSpPr>
        <p:spPr>
          <a:xfrm flipH="1" rot="10800000">
            <a:off x="494100" y="3258575"/>
            <a:ext cx="3105300" cy="55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84" name="Google Shape;384;p40"/>
          <p:cNvSpPr txBox="1"/>
          <p:nvPr>
            <p:ph idx="1" type="body"/>
          </p:nvPr>
        </p:nvSpPr>
        <p:spPr>
          <a:xfrm>
            <a:off x="4632775" y="4311575"/>
            <a:ext cx="4181700" cy="220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Xác định bao trên</a:t>
            </a:r>
            <a:endParaRPr/>
          </a:p>
          <a:p>
            <a:pPr indent="-340360" lvl="0" marL="914400" rtl="0" algn="l"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en-US" sz="1400"/>
              <a:t>Bổ sung 2 điểm đầu tiên </a:t>
            </a:r>
            <a:endParaRPr sz="1400"/>
          </a:p>
          <a:p>
            <a:pPr indent="-340360" lvl="0" marL="914400" rtl="0" algn="l"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en-US" sz="1400"/>
              <a:t>Bổ sung điểm thứ 3 ( nếu ba điểm cuối cùng không tạo thành </a:t>
            </a:r>
            <a:r>
              <a:rPr lang="en-US" sz="1400"/>
              <a:t>rẽ</a:t>
            </a:r>
            <a:r>
              <a:rPr lang="en-US" sz="1400"/>
              <a:t> phải thì xóa điểm giữa)</a:t>
            </a:r>
            <a:endParaRPr sz="1400"/>
          </a:p>
        </p:txBody>
      </p:sp>
      <p:pic>
        <p:nvPicPr>
          <p:cNvPr descr="{&quot;type&quot;:&quot;$$&quot;,&quot;code&quot;:&quot;$$L_{upper}$$&quot;,&quot;aid&quot;:null,&quot;id&quot;:&quot;31&quot;,&quot;font&quot;:{&quot;family&quot;:&quot;Comfortaa&quot;,&quot;color&quot;:&quot;#000000&quot;,&quot;size&quot;:18},&quot;backgroundColor&quot;:&quot;#ffffff&quot;,&quot;backgroundColorModified&quot;:null,&quot;ts&quot;:1630415678926,&quot;cs&quot;:&quot;W7FixWqqo7ndxZvikx57sg==&quot;,&quot;size&quot;:{&quot;width&quot;:58.833333333333336,&quot;height&quot;:23.5}}" id="385" name="Google Shape;385;p4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429800" y="4540106"/>
            <a:ext cx="560388" cy="2238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6" name="Google Shape;386;p40"/>
          <p:cNvCxnSpPr/>
          <p:nvPr/>
        </p:nvCxnSpPr>
        <p:spPr>
          <a:xfrm flipH="1" rot="10800000">
            <a:off x="1134700" y="6359900"/>
            <a:ext cx="1371600" cy="9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40"/>
          <p:cNvCxnSpPr/>
          <p:nvPr/>
        </p:nvCxnSpPr>
        <p:spPr>
          <a:xfrm flipH="1" rot="10800000">
            <a:off x="1151675" y="5469000"/>
            <a:ext cx="1988100" cy="981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40"/>
          <p:cNvCxnSpPr/>
          <p:nvPr/>
        </p:nvCxnSpPr>
        <p:spPr>
          <a:xfrm flipH="1" rot="10800000">
            <a:off x="2479875" y="5494975"/>
            <a:ext cx="668400" cy="87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{&quot;backgroundColorModified&quot;:null,&quot;aid&quot;:null,&quot;code&quot;:&quot;$$p_{1}$$&quot;,&quot;font&quot;:{&quot;color&quot;:&quot;#000000&quot;,&quot;family&quot;:&quot;Comfortaa&quot;,&quot;size&quot;:14},&quot;backgroundColor&quot;:&quot;#ffffff&quot;,&quot;type&quot;:&quot;$$&quot;,&quot;id&quot;:&quot;29&quot;,&quot;ts&quot;:1630413896259,&quot;cs&quot;:&quot;+dZzD5OmVgFwE0HazqSGIA==&quot;,&quot;size&quot;:{&quot;width&quot;:15.333333333333334,&quot;height&quot;:12.166666666666666}}" id="389" name="Google Shape;38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8650" y="6371875"/>
            <a:ext cx="146050" cy="115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backgroundColorModified&quot;:false,&quot;code&quot;:&quot;$$p_{5}$$&quot;,&quot;id&quot;:&quot;29&quot;,&quot;aid&quot;:null,&quot;font&quot;:{&quot;color&quot;:&quot;#000000&quot;,&quot;family&quot;:&quot;Comfortaa&quot;,&quot;size&quot;:14},&quot;backgroundColor&quot;:&quot;#ffffff&quot;,&quot;ts&quot;:1630414139161,&quot;cs&quot;:&quot;7LZXXC4VD/D0cZvLeeWdUg==&quot;,&quot;size&quot;:{&quot;width&quot;:15.5,&quot;height&quot;:12.166666666666666}}" id="390" name="Google Shape;390;p4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71100" y="6487773"/>
            <a:ext cx="147638" cy="115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family&quot;:&quot;Comfortaa&quot;,&quot;color&quot;:&quot;#000000&quot;,&quot;size&quot;:14},&quot;id&quot;:&quot;29&quot;,&quot;backgroundColor&quot;:&quot;#ffffff&quot;,&quot;code&quot;:&quot;$$p_{2}$$&quot;,&quot;type&quot;:&quot;$$&quot;,&quot;backgroundColorModified&quot;:false,&quot;ts&quot;:1630414005100,&quot;cs&quot;:&quot;HdSQboiOi2VwrZEpBkoThw==&quot;,&quot;size&quot;:{&quot;width&quot;:15.5,&quot;height&quot;:12.166666666666666}}" id="391" name="Google Shape;39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9775" y="5379898"/>
            <a:ext cx="147638" cy="1158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2" name="Google Shape;392;p40"/>
          <p:cNvCxnSpPr/>
          <p:nvPr/>
        </p:nvCxnSpPr>
        <p:spPr>
          <a:xfrm>
            <a:off x="2123950" y="6251125"/>
            <a:ext cx="755400" cy="165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40"/>
          <p:cNvCxnSpPr/>
          <p:nvPr/>
        </p:nvCxnSpPr>
        <p:spPr>
          <a:xfrm flipH="1">
            <a:off x="2432200" y="6012475"/>
            <a:ext cx="138900" cy="642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40"/>
          <p:cNvCxnSpPr/>
          <p:nvPr/>
        </p:nvCxnSpPr>
        <p:spPr>
          <a:xfrm>
            <a:off x="2722950" y="5903100"/>
            <a:ext cx="269100" cy="95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40"/>
          <p:cNvCxnSpPr/>
          <p:nvPr/>
        </p:nvCxnSpPr>
        <p:spPr>
          <a:xfrm>
            <a:off x="1768025" y="6311875"/>
            <a:ext cx="17400" cy="225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1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Bao lồi (4)</a:t>
            </a:r>
            <a:endParaRPr/>
          </a:p>
        </p:txBody>
      </p:sp>
      <p:sp>
        <p:nvSpPr>
          <p:cNvPr id="402" name="Google Shape;402;p41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Xác định bao dưới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Bổ sung hai điểm đầu tiên 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Bổ sung điểm thứ 3, nếu ba điểm không tạo thành rẽ phải thì xóa điểm  giữa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Xóa điểm đầu và điểm cuối trong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Tập hợp điểm thu được theo kim đồng hồ  </a:t>
            </a:r>
            <a:endParaRPr/>
          </a:p>
        </p:txBody>
      </p:sp>
      <p:pic>
        <p:nvPicPr>
          <p:cNvPr descr="{&quot;type&quot;:&quot;$$&quot;,&quot;id&quot;:&quot;31&quot;,&quot;backgroundColorModified&quot;:false,&quot;aid&quot;:null,&quot;font&quot;:{&quot;size&quot;:18,&quot;color&quot;:&quot;#000000&quot;,&quot;family&quot;:&quot;Comfortaa&quot;},&quot;code&quot;:&quot;$$L_{lower}$$&quot;,&quot;backgroundColor&quot;:&quot;#ffffff&quot;,&quot;ts&quot;:1630416702619,&quot;cs&quot;:&quot;fDthmIyrGf7fp55Juezbpw==&quot;,&quot;size&quot;:{&quot;width&quot;:56.833333333333336,&quot;height&quot;:20.333333333333332}}" id="403" name="Google Shape;40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625" y="2016929"/>
            <a:ext cx="541338" cy="19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L_{lower}\\,=\\,\\left\\{p_{9},p_{10}\\right\\}$$&quot;,&quot;aid&quot;:null,&quot;type&quot;:&quot;$$&quot;,&quot;backgroundColor&quot;:&quot;#ffffff&quot;,&quot;id&quot;:&quot;31&quot;,&quot;font&quot;:{&quot;size&quot;:18,&quot;color&quot;:&quot;#000000&quot;,&quot;family&quot;:&quot;Comfortaa&quot;},&quot;backgroundColorModified&quot;:false,&quot;ts&quot;:1630416768419,&quot;cs&quot;:&quot;5zPc4qZE+0yKV7qMy4VCkA==&quot;,&quot;size&quot;:{&quot;width&quot;:185.66666666666666,&quot;height&quot;:24.333333333333332}}" id="404" name="Google Shape;40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7450" y="2508468"/>
            <a:ext cx="1768475" cy="23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id&quot;:&quot;31&quot;,&quot;backgroundColorModified&quot;:false,&quot;aid&quot;:null,&quot;font&quot;:{&quot;size&quot;:18,&quot;color&quot;:&quot;#000000&quot;,&quot;family&quot;:&quot;Comfortaa&quot;},&quot;code&quot;:&quot;$$L_{lower}$$&quot;,&quot;backgroundColor&quot;:&quot;#ffffff&quot;,&quot;ts&quot;:1630416702619,&quot;cs&quot;:&quot;fDthmIyrGf7fp55Juezbpw==&quot;,&quot;size&quot;:{&quot;width&quot;:56.833333333333336,&quot;height&quot;:20.333333333333332}}" id="405" name="Google Shape;40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5225" y="3662454"/>
            <a:ext cx="541338" cy="19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L_{upper}\\cup L_{lower}$$&quot;,&quot;type&quot;:&quot;$$&quot;,&quot;backgroundColorModified&quot;:false,&quot;id&quot;:&quot;31&quot;,&quot;aid&quot;:null,&quot;backgroundColor&quot;:&quot;#ffffff&quot;,&quot;font&quot;:{&quot;size&quot;:18,&quot;family&quot;:&quot;Comfortaa&quot;,&quot;color&quot;:&quot;#000000&quot;},&quot;ts&quot;:1630417216730,&quot;cs&quot;:&quot;LC1x/oVKojtR3aa4RfB5NA==&quot;,&quot;size&quot;:{&quot;width&quot;:144.66666666666666,&quot;height&quot;:23.5}}" id="406" name="Google Shape;406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8375" y="4540024"/>
            <a:ext cx="1377950" cy="223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2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</a:t>
            </a:r>
            <a:r>
              <a:rPr lang="en-US"/>
              <a:t>ài tập chương 3</a:t>
            </a:r>
            <a:endParaRPr/>
          </a:p>
        </p:txBody>
      </p:sp>
      <p:sp>
        <p:nvSpPr>
          <p:cNvPr id="413" name="Google Shape;413;p42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3"/>
          <p:cNvSpPr txBox="1"/>
          <p:nvPr>
            <p:ph idx="11" type="ftr"/>
          </p:nvPr>
        </p:nvSpPr>
        <p:spPr>
          <a:xfrm>
            <a:off x="5357475" y="6492900"/>
            <a:ext cx="366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9" name="Google Shape;419;p43"/>
          <p:cNvSpPr/>
          <p:nvPr/>
        </p:nvSpPr>
        <p:spPr>
          <a:xfrm>
            <a:off x="1860650" y="2552725"/>
            <a:ext cx="5161528" cy="10772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1">
                <a:ln cap="flat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Cám Ơn!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