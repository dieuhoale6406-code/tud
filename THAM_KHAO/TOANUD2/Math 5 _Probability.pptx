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9144000"/>
  <p:notesSz cx="6858000" cy="9144000"/>
  <p:embeddedFontLst>
    <p:embeddedFont>
      <p:font typeface="Comfortaa SemiBold"/>
      <p:regular r:id="rId24"/>
      <p:bold r:id="rId25"/>
    </p:embeddedFont>
    <p:embeddedFont>
      <p:font typeface="Comfortaa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ComfortaaSemiBold-regular.fntdata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Comfortaa-regular.fntdata"/><Relationship Id="rId25" Type="http://schemas.openxmlformats.org/officeDocument/2006/relationships/font" Target="fonts/ComfortaaSemiBold-bold.fntdata"/><Relationship Id="rId27" Type="http://schemas.openxmlformats.org/officeDocument/2006/relationships/font" Target="fonts/Comfortaa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" name="Google Shape;36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( Random variables)</a:t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" name="Google Shape;59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" name="Google Shape;66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" name="Google Shape;73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" name="Google Shape;80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4" name="Google Shape;134;p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p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93775" y="3968500"/>
            <a:ext cx="4229700" cy="2762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2560"/>
              <a:buNone/>
              <a:defRPr b="0" i="0" sz="2000">
                <a:solidFill>
                  <a:schemeClr val="l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indent="-3149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360"/>
              <a:buChar char="-"/>
              <a:defRPr sz="1000">
                <a:solidFill>
                  <a:schemeClr val="lt2"/>
                </a:solidFill>
              </a:defRPr>
            </a:lvl2pPr>
            <a:lvl3pPr indent="-3149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360"/>
              <a:buChar char="-"/>
              <a:defRPr sz="1000">
                <a:solidFill>
                  <a:schemeClr val="lt2"/>
                </a:solidFill>
              </a:defRPr>
            </a:lvl3pPr>
            <a:lvl4pPr indent="-3149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360"/>
              <a:buChar char="-"/>
              <a:defRPr sz="1000">
                <a:solidFill>
                  <a:schemeClr val="lt2"/>
                </a:solidFill>
              </a:defRPr>
            </a:lvl4pPr>
            <a:lvl5pPr indent="-3149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360"/>
              <a:buChar char="-"/>
              <a:defRPr sz="1000">
                <a:solidFill>
                  <a:schemeClr val="lt2"/>
                </a:solidFill>
              </a:defRPr>
            </a:lvl5pPr>
            <a:lvl6pPr indent="-2921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•"/>
              <a:defRPr sz="1000">
                <a:solidFill>
                  <a:schemeClr val="lt2"/>
                </a:solidFill>
              </a:defRPr>
            </a:lvl6pPr>
            <a:lvl7pPr indent="-2921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•"/>
              <a:defRPr sz="1000">
                <a:solidFill>
                  <a:schemeClr val="lt2"/>
                </a:solidFill>
              </a:defRPr>
            </a:lvl7pPr>
            <a:lvl8pPr indent="-2921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•"/>
              <a:defRPr sz="1000">
                <a:solidFill>
                  <a:schemeClr val="lt2"/>
                </a:solidFill>
              </a:defRPr>
            </a:lvl8pPr>
            <a:lvl9pPr indent="-2921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000"/>
              <a:buChar char="•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" name="Google Shape;19;p2"/>
          <p:cNvSpPr txBox="1"/>
          <p:nvPr>
            <p:ph type="ctrTitle"/>
          </p:nvPr>
        </p:nvSpPr>
        <p:spPr>
          <a:xfrm>
            <a:off x="348700" y="1239125"/>
            <a:ext cx="4053000" cy="2386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  <a:defRPr b="1" i="0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0" name="Google Shape;20;p2"/>
          <p:cNvCxnSpPr/>
          <p:nvPr/>
        </p:nvCxnSpPr>
        <p:spPr>
          <a:xfrm>
            <a:off x="276359" y="2216727"/>
            <a:ext cx="0" cy="34023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dash"/>
            <a:miter lim="800000"/>
            <a:headEnd len="sm" w="sm" type="none"/>
            <a:tailEnd len="sm" w="sm" type="none"/>
          </a:ln>
        </p:spPr>
      </p:cxnSp>
      <p:pic>
        <p:nvPicPr>
          <p:cNvPr id="21" name="Google Shape;2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569" y="129505"/>
            <a:ext cx="3907717" cy="832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 Slide">
  <p:cSld name="Divider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ctrTitle"/>
          </p:nvPr>
        </p:nvSpPr>
        <p:spPr>
          <a:xfrm>
            <a:off x="493776" y="1490663"/>
            <a:ext cx="49788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  <a:defRPr b="1" i="0" sz="3600" cap="none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493776" y="3970337"/>
            <a:ext cx="4978800" cy="22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3360"/>
              <a:buNone/>
              <a:defRPr b="0" sz="2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  <a:defRPr sz="2000"/>
            </a:lvl2pPr>
            <a:lvl3pPr lvl="2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sz="1800"/>
            </a:lvl3pPr>
            <a:lvl4pPr lvl="3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sz="1600"/>
            </a:lvl4pPr>
            <a:lvl5pPr lvl="4" algn="ctr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192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25200" y="1821425"/>
            <a:ext cx="8389200" cy="49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Font typeface="Comfortaa"/>
              <a:buChar char="•"/>
              <a:defRPr>
                <a:latin typeface="Comfortaa"/>
                <a:ea typeface="Comfortaa"/>
                <a:cs typeface="Comfortaa"/>
                <a:sym typeface="Comfortaa"/>
              </a:defRPr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Font typeface="Comfortaa"/>
              <a:buChar char="-"/>
              <a:defRPr>
                <a:latin typeface="Comfortaa"/>
                <a:ea typeface="Comfortaa"/>
                <a:cs typeface="Comfortaa"/>
                <a:sym typeface="Comfortaa"/>
              </a:defRPr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Font typeface="Comfortaa"/>
              <a:buChar char="-"/>
              <a:defRPr>
                <a:latin typeface="Comfortaa"/>
                <a:ea typeface="Comfortaa"/>
                <a:cs typeface="Comfortaa"/>
                <a:sym typeface="Comfortaa"/>
              </a:defRPr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Font typeface="Comfortaa"/>
              <a:buChar char="-"/>
              <a:defRPr>
                <a:latin typeface="Comfortaa"/>
                <a:ea typeface="Comfortaa"/>
                <a:cs typeface="Comfortaa"/>
                <a:sym typeface="Comfortaa"/>
              </a:defRPr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Font typeface="Comfortaa"/>
              <a:buChar char="-"/>
              <a:defRPr>
                <a:latin typeface="Comfortaa"/>
                <a:ea typeface="Comfortaa"/>
                <a:cs typeface="Comfortaa"/>
                <a:sym typeface="Comfortaa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Comfortaa"/>
              <a:buChar char="•"/>
              <a:defRPr>
                <a:latin typeface="Comfortaa"/>
                <a:ea typeface="Comfortaa"/>
                <a:cs typeface="Comfortaa"/>
                <a:sym typeface="Comfortaa"/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Comfortaa"/>
              <a:buChar char="•"/>
              <a:defRPr>
                <a:latin typeface="Comfortaa"/>
                <a:ea typeface="Comfortaa"/>
                <a:cs typeface="Comfortaa"/>
                <a:sym typeface="Comfortaa"/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Comfortaa"/>
              <a:buChar char="•"/>
              <a:defRPr>
                <a:latin typeface="Comfortaa"/>
                <a:ea typeface="Comfortaa"/>
                <a:cs typeface="Comfortaa"/>
                <a:sym typeface="Comfortaa"/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Comfortaa"/>
              <a:buChar char="•"/>
              <a:defRPr>
                <a:latin typeface="Comfortaa"/>
                <a:ea typeface="Comfortaa"/>
                <a:cs typeface="Comfortaa"/>
                <a:sym typeface="Comfortaa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5357475" y="6492900"/>
            <a:ext cx="366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Double Content" type="twoObj">
  <p:cSld name="TWO_OBJECT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351200" y="1076950"/>
            <a:ext cx="84300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25200" y="1754125"/>
            <a:ext cx="3922800" cy="47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2160"/>
              <a:buChar char="•"/>
              <a:defRPr>
                <a:solidFill>
                  <a:srgbClr val="333333"/>
                </a:solidFill>
              </a:defRPr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2160"/>
              <a:buChar char="-"/>
              <a:defRPr>
                <a:solidFill>
                  <a:srgbClr val="333333"/>
                </a:solidFill>
              </a:defRPr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2160"/>
              <a:buChar char="-"/>
              <a:defRPr>
                <a:solidFill>
                  <a:srgbClr val="333333"/>
                </a:solidFill>
              </a:defRPr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2160"/>
              <a:buChar char="-"/>
              <a:defRPr>
                <a:solidFill>
                  <a:srgbClr val="333333"/>
                </a:solidFill>
              </a:defRPr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2160"/>
              <a:buChar char="-"/>
              <a:defRPr>
                <a:solidFill>
                  <a:srgbClr val="33333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800"/>
              <a:buChar char="•"/>
              <a:defRPr>
                <a:solidFill>
                  <a:srgbClr val="333333"/>
                </a:solidFill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800"/>
              <a:buChar char="•"/>
              <a:defRPr>
                <a:solidFill>
                  <a:srgbClr val="333333"/>
                </a:solidFill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800"/>
              <a:buChar char="•"/>
              <a:defRPr>
                <a:solidFill>
                  <a:srgbClr val="333333"/>
                </a:solidFill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800"/>
              <a:buChar char="•"/>
              <a:defRPr>
                <a:solidFill>
                  <a:srgbClr val="333333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389125" y="1711850"/>
            <a:ext cx="4455600" cy="46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2160"/>
              <a:buChar char="•"/>
              <a:defRPr>
                <a:solidFill>
                  <a:srgbClr val="333333"/>
                </a:solidFill>
              </a:defRPr>
            </a:lvl1pPr>
            <a:lvl2pPr indent="-365760" lvl="1" marL="9144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2160"/>
              <a:buChar char="-"/>
              <a:defRPr>
                <a:solidFill>
                  <a:srgbClr val="333333"/>
                </a:solidFill>
              </a:defRPr>
            </a:lvl2pPr>
            <a:lvl3pPr indent="-365760" lvl="2" marL="13716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2160"/>
              <a:buChar char="-"/>
              <a:defRPr>
                <a:solidFill>
                  <a:srgbClr val="333333"/>
                </a:solidFill>
              </a:defRPr>
            </a:lvl3pPr>
            <a:lvl4pPr indent="-365760" lvl="3" marL="18288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2160"/>
              <a:buChar char="-"/>
              <a:defRPr>
                <a:solidFill>
                  <a:srgbClr val="333333"/>
                </a:solidFill>
              </a:defRPr>
            </a:lvl4pPr>
            <a:lvl5pPr indent="-365760" lvl="4" marL="228600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2160"/>
              <a:buChar char="-"/>
              <a:defRPr>
                <a:solidFill>
                  <a:srgbClr val="333333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800"/>
              <a:buChar char="•"/>
              <a:defRPr>
                <a:solidFill>
                  <a:srgbClr val="333333"/>
                </a:solidFill>
              </a:defRPr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800"/>
              <a:buChar char="•"/>
              <a:defRPr>
                <a:solidFill>
                  <a:srgbClr val="333333"/>
                </a:solidFill>
              </a:defRPr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800"/>
              <a:buChar char="•"/>
              <a:defRPr>
                <a:solidFill>
                  <a:srgbClr val="333333"/>
                </a:solidFill>
              </a:defRPr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33333"/>
              </a:buClr>
              <a:buSzPts val="1800"/>
              <a:buChar char="•"/>
              <a:defRPr>
                <a:solidFill>
                  <a:srgbClr val="333333"/>
                </a:solidFill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5294075" y="6425450"/>
            <a:ext cx="366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8.png"/><Relationship Id="rId3" Type="http://schemas.openxmlformats.org/officeDocument/2006/relationships/image" Target="../media/image23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51196" y="1076941"/>
            <a:ext cx="78867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Georgia"/>
              <a:buNone/>
              <a:defRPr b="0" i="0" sz="3400" u="none" cap="none" strike="noStrike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25200" y="1845400"/>
            <a:ext cx="8387700" cy="43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5760" lvl="0" marL="4572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omfortaa SemiBold"/>
              <a:buChar char="•"/>
              <a:defRPr b="0" i="0" sz="1800" u="none" cap="none" strike="noStrike">
                <a:solidFill>
                  <a:srgbClr val="000000"/>
                </a:solidFill>
                <a:latin typeface="Comfortaa SemiBold"/>
                <a:ea typeface="Comfortaa SemiBold"/>
                <a:cs typeface="Comfortaa SemiBold"/>
                <a:sym typeface="Comfortaa SemiBold"/>
              </a:defRPr>
            </a:lvl1pPr>
            <a:lvl2pPr indent="-365760" lvl="1" marL="9144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omfortaa SemiBold"/>
              <a:buChar char="-"/>
              <a:defRPr b="0" i="0" sz="1800" u="none" cap="none" strike="noStrike">
                <a:solidFill>
                  <a:srgbClr val="000000"/>
                </a:solidFill>
                <a:latin typeface="Comfortaa SemiBold"/>
                <a:ea typeface="Comfortaa SemiBold"/>
                <a:cs typeface="Comfortaa SemiBold"/>
                <a:sym typeface="Comfortaa SemiBold"/>
              </a:defRPr>
            </a:lvl2pPr>
            <a:lvl3pPr indent="-365760" lvl="2" marL="13716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omfortaa SemiBold"/>
              <a:buChar char="-"/>
              <a:defRPr b="0" i="0" sz="1800" u="none" cap="none" strike="noStrike">
                <a:solidFill>
                  <a:srgbClr val="000000"/>
                </a:solidFill>
                <a:latin typeface="Comfortaa SemiBold"/>
                <a:ea typeface="Comfortaa SemiBold"/>
                <a:cs typeface="Comfortaa SemiBold"/>
                <a:sym typeface="Comfortaa SemiBold"/>
              </a:defRPr>
            </a:lvl3pPr>
            <a:lvl4pPr indent="-365760" lvl="3" marL="18288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omfortaa SemiBold"/>
              <a:buChar char="-"/>
              <a:defRPr b="0" i="0" sz="1800" u="none" cap="none" strike="noStrike">
                <a:solidFill>
                  <a:srgbClr val="000000"/>
                </a:solidFill>
                <a:latin typeface="Comfortaa SemiBold"/>
                <a:ea typeface="Comfortaa SemiBold"/>
                <a:cs typeface="Comfortaa SemiBold"/>
                <a:sym typeface="Comfortaa SemiBold"/>
              </a:defRPr>
            </a:lvl4pPr>
            <a:lvl5pPr indent="-365760" lvl="4" marL="2286000" marR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160"/>
              <a:buFont typeface="Comfortaa SemiBold"/>
              <a:buChar char="-"/>
              <a:defRPr b="0" i="0" sz="1800" u="none" cap="none" strike="noStrike">
                <a:solidFill>
                  <a:srgbClr val="000000"/>
                </a:solidFill>
                <a:latin typeface="Comfortaa SemiBold"/>
                <a:ea typeface="Comfortaa SemiBold"/>
                <a:cs typeface="Comfortaa SemiBold"/>
                <a:sym typeface="Comfortaa SemiBol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fortaa SemiBold"/>
              <a:buChar char="•"/>
              <a:defRPr b="0" i="0" sz="1800" u="none" cap="none" strike="noStrike">
                <a:solidFill>
                  <a:srgbClr val="000000"/>
                </a:solidFill>
                <a:latin typeface="Comfortaa SemiBold"/>
                <a:ea typeface="Comfortaa SemiBold"/>
                <a:cs typeface="Comfortaa SemiBold"/>
                <a:sym typeface="Comfortaa SemiBol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fortaa SemiBold"/>
              <a:buChar char="•"/>
              <a:defRPr b="0" i="0" sz="1800" u="none" cap="none" strike="noStrike">
                <a:solidFill>
                  <a:srgbClr val="000000"/>
                </a:solidFill>
                <a:latin typeface="Comfortaa SemiBold"/>
                <a:ea typeface="Comfortaa SemiBold"/>
                <a:cs typeface="Comfortaa SemiBold"/>
                <a:sym typeface="Comfortaa SemiBol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fortaa SemiBold"/>
              <a:buChar char="•"/>
              <a:defRPr b="0" i="0" sz="1800" u="none" cap="none" strike="noStrike">
                <a:solidFill>
                  <a:srgbClr val="000000"/>
                </a:solidFill>
                <a:latin typeface="Comfortaa SemiBold"/>
                <a:ea typeface="Comfortaa SemiBold"/>
                <a:cs typeface="Comfortaa SemiBold"/>
                <a:sym typeface="Comfortaa SemiBol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mfortaa SemiBold"/>
              <a:buChar char="•"/>
              <a:defRPr b="0" i="0" sz="1800" u="none" cap="none" strike="noStrike">
                <a:solidFill>
                  <a:srgbClr val="000000"/>
                </a:solidFill>
                <a:latin typeface="Comfortaa SemiBold"/>
                <a:ea typeface="Comfortaa SemiBold"/>
                <a:cs typeface="Comfortaa SemiBold"/>
                <a:sym typeface="Comfortaa SemiBold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5294075" y="6319775"/>
            <a:ext cx="3663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/>
        </p:nvSpPr>
        <p:spPr>
          <a:xfrm>
            <a:off x="5542161" y="217021"/>
            <a:ext cx="27693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Khoa Công Nghệ Thông Tin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8311897" y="134971"/>
            <a:ext cx="645300" cy="596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 KHOA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15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02631" y="-33229"/>
            <a:ext cx="3242733" cy="6905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1555" y="140531"/>
            <a:ext cx="702733" cy="6223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2.png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1.png"/><Relationship Id="rId4" Type="http://schemas.openxmlformats.org/officeDocument/2006/relationships/image" Target="../media/image2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Relationship Id="rId4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png"/><Relationship Id="rId4" Type="http://schemas.openxmlformats.org/officeDocument/2006/relationships/image" Target="../media/image33.png"/><Relationship Id="rId5" Type="http://schemas.openxmlformats.org/officeDocument/2006/relationships/image" Target="../media/image3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ctrTitle"/>
          </p:nvPr>
        </p:nvSpPr>
        <p:spPr>
          <a:xfrm>
            <a:off x="437875" y="2788650"/>
            <a:ext cx="4164900" cy="128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t/>
            </a:r>
            <a:endParaRPr sz="29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sz="2600"/>
              <a:t>TOÁN ỨNG DỤNG CÔNG NGHỆ THÔNG TIN</a:t>
            </a:r>
            <a:endParaRPr sz="2600"/>
          </a:p>
        </p:txBody>
      </p:sp>
      <p:sp>
        <p:nvSpPr>
          <p:cNvPr id="39" name="Google Shape;39;p6"/>
          <p:cNvSpPr txBox="1"/>
          <p:nvPr/>
        </p:nvSpPr>
        <p:spPr>
          <a:xfrm>
            <a:off x="1309143" y="4828745"/>
            <a:ext cx="49440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Khoa Công Nghệ Thông Tin</a:t>
            </a:r>
            <a:endParaRPr b="1" i="0" sz="16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6"/>
          <p:cNvSpPr/>
          <p:nvPr/>
        </p:nvSpPr>
        <p:spPr>
          <a:xfrm>
            <a:off x="437871" y="4735071"/>
            <a:ext cx="797700" cy="797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LOGO KHOA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" name="Google Shape;4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7989" y="4860851"/>
            <a:ext cx="557456" cy="546308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ctrTitle"/>
          </p:nvPr>
        </p:nvSpPr>
        <p:spPr>
          <a:xfrm>
            <a:off x="493776" y="1490663"/>
            <a:ext cx="49788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ctr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-US"/>
              <a:t>Chuyên đề xác suất</a:t>
            </a:r>
            <a:endParaRPr/>
          </a:p>
          <a:p>
            <a:pPr indent="0" lvl="0" marL="0" rtl="0" algn="ctr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t/>
            </a:r>
            <a:endParaRPr/>
          </a:p>
        </p:txBody>
      </p:sp>
      <p:sp>
        <p:nvSpPr>
          <p:cNvPr id="48" name="Google Shape;48;p7"/>
          <p:cNvSpPr txBox="1"/>
          <p:nvPr>
            <p:ph idx="1" type="subTitle"/>
          </p:nvPr>
        </p:nvSpPr>
        <p:spPr>
          <a:xfrm>
            <a:off x="493776" y="3970337"/>
            <a:ext cx="4978800" cy="22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33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Biến ngẫu nhiên(1)</a:t>
            </a:r>
            <a:endParaRPr/>
          </a:p>
        </p:txBody>
      </p:sp>
      <p:sp>
        <p:nvSpPr>
          <p:cNvPr id="55" name="Google Shape;55;p8"/>
          <p:cNvSpPr txBox="1"/>
          <p:nvPr>
            <p:ph idx="1" type="body"/>
          </p:nvPr>
        </p:nvSpPr>
        <p:spPr>
          <a:xfrm>
            <a:off x="425200" y="1821425"/>
            <a:ext cx="8389200" cy="4920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04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Font typeface="Comfortaa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329600" y="948519"/>
            <a:ext cx="84444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Biến ngẫu nhiên (2)</a:t>
            </a:r>
            <a:endParaRPr/>
          </a:p>
        </p:txBody>
      </p:sp>
      <p:sp>
        <p:nvSpPr>
          <p:cNvPr id="62" name="Google Shape;62;p9"/>
          <p:cNvSpPr txBox="1"/>
          <p:nvPr>
            <p:ph idx="1" type="body"/>
          </p:nvPr>
        </p:nvSpPr>
        <p:spPr>
          <a:xfrm>
            <a:off x="425200" y="1680519"/>
            <a:ext cx="8389200" cy="497698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34349" l="-904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Font typeface="Comfortaa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Xác suất đồng thời</a:t>
            </a:r>
            <a:endParaRPr/>
          </a:p>
        </p:txBody>
      </p:sp>
      <p:sp>
        <p:nvSpPr>
          <p:cNvPr id="69" name="Google Shape;69;p10"/>
          <p:cNvSpPr txBox="1"/>
          <p:nvPr>
            <p:ph idx="1" type="body"/>
          </p:nvPr>
        </p:nvSpPr>
        <p:spPr>
          <a:xfrm>
            <a:off x="425200" y="1821425"/>
            <a:ext cx="8389200" cy="4920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Font typeface="Comfortaa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Xác suất biên</a:t>
            </a:r>
            <a:endParaRPr/>
          </a:p>
        </p:txBody>
      </p:sp>
      <p:sp>
        <p:nvSpPr>
          <p:cNvPr id="76" name="Google Shape;76;p11"/>
          <p:cNvSpPr txBox="1"/>
          <p:nvPr>
            <p:ph idx="1" type="body"/>
          </p:nvPr>
        </p:nvSpPr>
        <p:spPr>
          <a:xfrm>
            <a:off x="425200" y="1821425"/>
            <a:ext cx="8389200" cy="4920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Font typeface="Comfortaa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Xác suất điều kiện (1)</a:t>
            </a:r>
            <a:endParaRPr/>
          </a:p>
        </p:txBody>
      </p:sp>
      <p:sp>
        <p:nvSpPr>
          <p:cNvPr id="83" name="Google Shape;83;p12"/>
          <p:cNvSpPr txBox="1"/>
          <p:nvPr>
            <p:ph idx="1" type="body"/>
          </p:nvPr>
        </p:nvSpPr>
        <p:spPr>
          <a:xfrm>
            <a:off x="425200" y="1821425"/>
            <a:ext cx="8389200" cy="4920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Font typeface="Comfortaa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7313" y="2150076"/>
            <a:ext cx="6849374" cy="446079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Xác suất điều kiện (2)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Quy tắc Bayes</a:t>
            </a:r>
            <a:endParaRPr/>
          </a:p>
        </p:txBody>
      </p:sp>
      <p:pic>
        <p:nvPicPr>
          <p:cNvPr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3305" y="1839031"/>
            <a:ext cx="5417389" cy="1099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9185" y="2790074"/>
            <a:ext cx="4552294" cy="38307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Biến ngẫu nhiên độc lập</a:t>
            </a:r>
            <a:endParaRPr/>
          </a:p>
        </p:txBody>
      </p:sp>
      <p:sp>
        <p:nvSpPr>
          <p:cNvPr id="104" name="Google Shape;104;p15"/>
          <p:cNvSpPr txBox="1"/>
          <p:nvPr>
            <p:ph idx="1" type="body"/>
          </p:nvPr>
        </p:nvSpPr>
        <p:spPr>
          <a:xfrm>
            <a:off x="425200" y="1821425"/>
            <a:ext cx="8389200" cy="4920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Font typeface="Comfortaa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105" name="Google Shape;10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9422" y="2758685"/>
            <a:ext cx="2081464" cy="1097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30622" y="3855811"/>
            <a:ext cx="5578356" cy="8856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Kỳ vọng</a:t>
            </a:r>
            <a:endParaRPr/>
          </a:p>
        </p:txBody>
      </p:sp>
      <p:sp>
        <p:nvSpPr>
          <p:cNvPr id="113" name="Google Shape;113;p16"/>
          <p:cNvSpPr txBox="1"/>
          <p:nvPr>
            <p:ph idx="1" type="body"/>
          </p:nvPr>
        </p:nvSpPr>
        <p:spPr>
          <a:xfrm>
            <a:off x="425200" y="1821425"/>
            <a:ext cx="8389200" cy="4920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904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Font typeface="Comfortaa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114" name="Google Shape;11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9218" y="4050970"/>
            <a:ext cx="3807516" cy="1848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Phương sai</a:t>
            </a:r>
            <a:endParaRPr/>
          </a:p>
        </p:txBody>
      </p:sp>
      <p:sp>
        <p:nvSpPr>
          <p:cNvPr id="121" name="Google Shape;121;p17"/>
          <p:cNvSpPr txBox="1"/>
          <p:nvPr>
            <p:ph idx="1" type="body"/>
          </p:nvPr>
        </p:nvSpPr>
        <p:spPr>
          <a:xfrm>
            <a:off x="425200" y="1821425"/>
            <a:ext cx="8389200" cy="4920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Font typeface="Comfortaa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122" name="Google Shape;12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702" y="3867665"/>
            <a:ext cx="6234952" cy="14704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Ma trận hiệp phương sai</a:t>
            </a:r>
            <a:endParaRPr/>
          </a:p>
        </p:txBody>
      </p:sp>
      <p:sp>
        <p:nvSpPr>
          <p:cNvPr id="129" name="Google Shape;129;p18"/>
          <p:cNvSpPr txBox="1"/>
          <p:nvPr>
            <p:ph idx="1" type="body"/>
          </p:nvPr>
        </p:nvSpPr>
        <p:spPr>
          <a:xfrm>
            <a:off x="425200" y="1821425"/>
            <a:ext cx="8389200" cy="4920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Font typeface="Comfortaa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130" name="Google Shape;13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6517" y="3921397"/>
            <a:ext cx="7622283" cy="1546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Phân bố rời rạc</a:t>
            </a:r>
            <a:endParaRPr/>
          </a:p>
        </p:txBody>
      </p:sp>
      <p:sp>
        <p:nvSpPr>
          <p:cNvPr id="137" name="Google Shape;137;p19"/>
          <p:cNvSpPr txBox="1"/>
          <p:nvPr>
            <p:ph idx="1" type="body"/>
          </p:nvPr>
        </p:nvSpPr>
        <p:spPr>
          <a:xfrm>
            <a:off x="397450" y="1602350"/>
            <a:ext cx="8389200" cy="4920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Font typeface="Comfortaa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descr="Phân phối nhị thức – Wikipedia tiếng Việt" id="138" name="Google Shape;13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0134" y="4263080"/>
            <a:ext cx="4518342" cy="25102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Phân bố liên tục</a:t>
            </a:r>
            <a:endParaRPr/>
          </a:p>
        </p:txBody>
      </p:sp>
      <p:sp>
        <p:nvSpPr>
          <p:cNvPr id="145" name="Google Shape;145;p20"/>
          <p:cNvSpPr txBox="1"/>
          <p:nvPr>
            <p:ph idx="1" type="body"/>
          </p:nvPr>
        </p:nvSpPr>
        <p:spPr>
          <a:xfrm>
            <a:off x="425050" y="1690750"/>
            <a:ext cx="8389200" cy="464022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Font typeface="Comfortaa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descr="Normal distribution - Wikipedia" id="146" name="Google Shape;14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49907" y="4848925"/>
            <a:ext cx="4175124" cy="19770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Chuỗi Markov</a:t>
            </a:r>
            <a:endParaRPr/>
          </a:p>
        </p:txBody>
      </p:sp>
      <p:sp>
        <p:nvSpPr>
          <p:cNvPr id="153" name="Google Shape;153;p21"/>
          <p:cNvSpPr txBox="1"/>
          <p:nvPr>
            <p:ph idx="1" type="body"/>
          </p:nvPr>
        </p:nvSpPr>
        <p:spPr>
          <a:xfrm>
            <a:off x="425200" y="1821425"/>
            <a:ext cx="8389200" cy="49203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-30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Font typeface="Comfortaa"/>
              <a:buChar char="•"/>
            </a:pPr>
            <a:r>
              <a:rPr lang="en-US"/>
              <a:t> </a:t>
            </a:r>
            <a:endParaRPr/>
          </a:p>
        </p:txBody>
      </p:sp>
      <p:pic>
        <p:nvPicPr>
          <p:cNvPr id="154" name="Google Shape;15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75437" y="4806778"/>
            <a:ext cx="4337221" cy="1668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ext&#10;&#10;Description automatically generated" id="155" name="Google Shape;15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3137" y="5235272"/>
            <a:ext cx="3162300" cy="113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Chuỗi Markov</a:t>
            </a:r>
            <a:endParaRPr/>
          </a:p>
        </p:txBody>
      </p:sp>
      <p:sp>
        <p:nvSpPr>
          <p:cNvPr id="162" name="Google Shape;162;p22"/>
          <p:cNvSpPr txBox="1"/>
          <p:nvPr>
            <p:ph idx="1" type="body"/>
          </p:nvPr>
        </p:nvSpPr>
        <p:spPr>
          <a:xfrm>
            <a:off x="425200" y="1821425"/>
            <a:ext cx="8389200" cy="49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Ví dụ </a:t>
            </a:r>
            <a:r>
              <a:rPr lang="en-US"/>
              <a:t>chuỗi</a:t>
            </a:r>
            <a:r>
              <a:rPr lang="en-US"/>
              <a:t> mô phỏng nho – táo – cam</a:t>
            </a:r>
            <a:endParaRPr/>
          </a:p>
          <a:p>
            <a:pPr indent="-22860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/>
          </a:p>
          <a:p>
            <a:pPr indent="0" lvl="0" marL="9144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/>
          </a:p>
        </p:txBody>
      </p:sp>
      <p:pic>
        <p:nvPicPr>
          <p:cNvPr id="163" name="Google Shape;16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6736" y="2718487"/>
            <a:ext cx="4330528" cy="18164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3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Chuỗi Markov</a:t>
            </a:r>
            <a:endParaRPr/>
          </a:p>
        </p:txBody>
      </p:sp>
      <p:sp>
        <p:nvSpPr>
          <p:cNvPr id="170" name="Google Shape;170;p23"/>
          <p:cNvSpPr txBox="1"/>
          <p:nvPr>
            <p:ph idx="1" type="body"/>
          </p:nvPr>
        </p:nvSpPr>
        <p:spPr>
          <a:xfrm>
            <a:off x="425200" y="1821425"/>
            <a:ext cx="8389200" cy="49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 Xác định chính sách thay thế vật tư thiết bị​</a:t>
            </a:r>
            <a:endParaRPr/>
          </a:p>
          <a:p>
            <a: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Dự </a:t>
            </a:r>
            <a:r>
              <a:rPr lang="en-US"/>
              <a:t>báo</a:t>
            </a:r>
            <a:r>
              <a:rPr lang="en-US"/>
              <a:t> thất thu cho các hợp đồng thực hiện trước</a:t>
            </a:r>
            <a:endParaRPr/>
          </a:p>
          <a:p>
            <a: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cơ sở cho phương pháp mô phỏng ngẫu nhiên xích Markov Monte Carlo, </a:t>
            </a:r>
            <a:endParaRPr/>
          </a:p>
          <a:p>
            <a: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Ứng dụng trong thống kê Bayes</a:t>
            </a:r>
            <a:endParaRPr/>
          </a:p>
          <a:p>
            <a: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Ứng dụng trong trí tuệ nhân tạo.</a:t>
            </a:r>
            <a:endParaRPr/>
          </a:p>
          <a:p>
            <a: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</a:pPr>
            <a:r>
              <a:rPr lang="en-US"/>
              <a:t>PageRank khởi nguồn cho công cụ tìm kiếm của Google </a:t>
            </a:r>
            <a:endParaRPr/>
          </a:p>
          <a:p>
            <a:pPr indent="0" lvl="0" marL="9144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/>
          </a:p>
          <a:p>
            <a:pPr indent="0" lvl="0" marL="9144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/>
          </a:p>
          <a:p>
            <a:pPr indent="0" lvl="0" marL="9144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4"/>
          <p:cNvSpPr txBox="1"/>
          <p:nvPr>
            <p:ph type="title"/>
          </p:nvPr>
        </p:nvSpPr>
        <p:spPr>
          <a:xfrm>
            <a:off x="369850" y="958750"/>
            <a:ext cx="8444400" cy="73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Ứng dụng dãy Markov</a:t>
            </a:r>
            <a:endParaRPr/>
          </a:p>
        </p:txBody>
      </p:sp>
      <p:sp>
        <p:nvSpPr>
          <p:cNvPr id="177" name="Google Shape;177;p24"/>
          <p:cNvSpPr txBox="1"/>
          <p:nvPr>
            <p:ph idx="1" type="body"/>
          </p:nvPr>
        </p:nvSpPr>
        <p:spPr>
          <a:xfrm>
            <a:off x="425200" y="1821425"/>
            <a:ext cx="8389200" cy="49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Font typeface="Comfortaa"/>
              <a:buChar char="•"/>
            </a:pPr>
            <a:r>
              <a:rPr lang="en-US"/>
              <a:t>Mô hình kiểm kê (Inventory Model)</a:t>
            </a:r>
            <a:endParaRPr/>
          </a:p>
          <a:p>
            <a: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Font typeface="Comfortaa"/>
              <a:buChar char="•"/>
            </a:pPr>
            <a:r>
              <a:rPr lang="en-US"/>
              <a:t>Mô hình bình Ehrenfest</a:t>
            </a:r>
            <a:endParaRPr/>
          </a:p>
          <a:p>
            <a: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Font typeface="Comfortaa"/>
              <a:buChar char="•"/>
            </a:pPr>
            <a:r>
              <a:rPr lang="en-US"/>
              <a:t>Xích Markov trong đi truyền</a:t>
            </a:r>
            <a:endParaRPr/>
          </a:p>
          <a:p>
            <a: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Font typeface="Comfortaa"/>
              <a:buChar char="•"/>
            </a:pPr>
            <a:r>
              <a:rPr lang="en-US"/>
              <a:t>Mô hình trò chơi hai đấu thủ </a:t>
            </a:r>
            <a:endParaRPr/>
          </a:p>
          <a:p>
            <a:pPr indent="-36576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Font typeface="Comfortaa"/>
              <a:buChar char="•"/>
            </a:pPr>
            <a:r>
              <a:rPr lang="en-US"/>
              <a:t>Mô hình phục vụ đám đông (lý thuyết xếp hàng)</a:t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/>
          </a:p>
          <a:p>
            <a:pPr indent="-228600" lvl="0" marL="457200" rtl="0" algn="l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UB Brand Colors">
      <a:dk1>
        <a:srgbClr val="666666"/>
      </a:dk1>
      <a:lt1>
        <a:srgbClr val="FFFFFF"/>
      </a:lt1>
      <a:dk2>
        <a:srgbClr val="005BBB"/>
      </a:dk2>
      <a:lt2>
        <a:srgbClr val="FFFFFF"/>
      </a:lt2>
      <a:accent1>
        <a:srgbClr val="005BBB"/>
      </a:accent1>
      <a:accent2>
        <a:srgbClr val="41B6E6"/>
      </a:accent2>
      <a:accent3>
        <a:srgbClr val="E56D54"/>
      </a:accent3>
      <a:accent4>
        <a:srgbClr val="666666"/>
      </a:accent4>
      <a:accent5>
        <a:srgbClr val="007681"/>
      </a:accent5>
      <a:accent6>
        <a:srgbClr val="003E51"/>
      </a:accent6>
      <a:hlink>
        <a:srgbClr val="005BBB"/>
      </a:hlink>
      <a:folHlink>
        <a:srgbClr val="D86A4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